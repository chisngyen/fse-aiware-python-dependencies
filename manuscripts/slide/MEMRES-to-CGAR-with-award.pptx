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2.svg" ContentType="image/svg+xml"/>
  <Override PartName="/ppt/media/image-14-2.svg" ContentType="image/svg+xml"/>
  <Override PartName="/ppt/media/image-16-2.svg" ContentType="image/svg+xml"/>
  <Override PartName="/ppt/media/image-19-2.svg" ContentType="image/svg+xml"/>
  <Override PartName="/ppt/media/image-21-2.svg" ContentType="image/svg+xml"/>
  <Override PartName="/ppt/media/image-26-2.svg" ContentType="image/svg+xml"/>
  <Override PartName="/ppt/media/image-3-2.svg" ContentType="image/svg+xml"/>
  <Override PartName="/ppt/media/image-36-2.svg" ContentType="image/svg+xml"/>
  <Override PartName="/ppt/media/image-7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5" r:id="rId46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 MEMRES đến CGAR và nhóm thực hiện.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Lộ trình: bài toán, công trình liên quan, MEMRES, CGAR (trọng tâm), kết quả, hạn chế.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1: bài toán và bối cảnh.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Hàng nghìn gist Python trên GitHub bị chết môi trường; mục tiêu là dựng lại môi trường chạy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là snippet không metadata; output là Python version + pip + apt. Tiêu chí: mọi import chạy trong Docker. Ngân sách build giống nhau mọi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Tên import gây hiểu lầm, API biến mất, hiệu ứng domino kéo theo cả chuỗi phiên bản.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500K package × ~10 version × ~8 Python ≈ 10^7 tổ hợp; chỉ 1 lời giải. Không thể thử tay, cần solver/agent tỉa không 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HG2.9K (in-distribution, 2891 gist khó) và GitChameleon (OOD, 328 snippet có unit test ẩn).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hướng: Knowledge Graph, Regex/Log-parsing, LLM+RAG. Khoảng trống: chưa ai học từ thất bại để thu hẹp không 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tổng hợp các phương pháp; KG-era chạm trần ~47% trên HG2.9K, PLLM (LLM paradigm) phá vỡ lên ~55%.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2: MEMRES, phương pháp nền tảng.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MEMRES: cascade rẻ trước, đắt sau; memory tích lũy giữa retries. Cứu nhiều lỗi nhưng chưa biến thất bại thành ràng buộc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lỗ hổng MEMRES → 3 thành phần CGAR. Paradigm shift: LLM đoán mò → Multi-Agent + Constraint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3: CGAR, đề xuất của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LLM agent: Planner chọn version, Analyzer đọc lỗi sinh ràng buộc, Critic đề xuất pivot. Cùng Docker build loop và Session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 → Executor → (build OK?) → Done / Analyzer ghi constraint vào Store → Critic. Mỗi fail thêm 1 constraint, Planner kế tiếp né cả vùng.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D lọc trực tiếp từ PyPI: import→pip map, GET json (no LLM), lọc requires_python + has_wheel, sort wheel-first top-8/gói.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dụ: scipy 1.7.3 fail ImportError imread → Analyzer học scipy&lt;1.3 [UPPER] → scipy 1.2.3 build OK. Store tích lũy, chia sẻ cho snippet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Ràng buộc ẩn, lộ qua verifier. C0=∅. Mỗi lỗi = counterexample → học ràng buộc (Constraint Acquisition kiểu CEGIS), không giải CSP cho sẵn. HARD/SOFT/UPPER tỉa cây.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= 1 repo = nhiều snippets; ràng buộc chia sẻ giữa snippets. Cứu 17.9% MEMRES-failures (71/396).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4: đánh giá thực nghiệm.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CGAR đạt 87.1% HG2.9K, 83.2% GitCham, 22.3s, cao nhất và nhanh nhất trong các open tool, cùng ngân sách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CGAR triệt tiêu 4 nhóm lỗi, gần như chỉ còn ImportError. Total fails 1596 → 373 (-76.6%). Rescue 80.6% toàn bộ PLLM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CGAR (open 9B, &lt;10GB VRAM) vượt o1 (closed, &gt;200B) +32.0pp trên GitChameleon. Gap HG-GitCham nhỏ nhất → tổng quát hóa tốt.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nhưng nhanh nhất; solver tỉa không gian → ít Docker build. Ablation: bỏ upper bound −68% rescue, bỏ wheel filter −44%, bỏ session store −21%.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phần 5: hạn chế và hướng phát triển.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310 snippet (10.7%) cả PLLM và CGAR đều fail, irreducible dưới ràng buộc hiện tại. Cộng thêm 4 giới hạn kiến trúc.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hướng: đa ngôn ngữ, chia sẻ constraint federated, fine-tune LLM đọc lỗi, đa mô hình. Mục tiêu: environment archaeologist đa năng.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tài liệu tham khảo chính.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trình bày ~6 phút trên Facebook; bấm thumbnail để mở.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và mời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CandidateGraphBuilder và Solver ConstraintSolver: input/output. Hai loại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message I/O giữa các agent, loose-coupled qua shared ConstraintStore.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Cấu trúc dữ liệu ConstraintStore: InfeasibleRecord, 3 stores, regex classifiers, flow error log →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đến Ollama Gemma-2 9B. Request/response, budget per agent, hard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loop per snippet ≤10 attempts; anti-hallucination validation tại mỗi agent; 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PLANNER_PROMPT đầy đủ; placeholder 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ANALYZER_PROMPT đầy đủ.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CRITIC_PROMPT đầy đủ; fires khi ≥3 consecutive same-type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hyperlink" Target="https://arxiv.org/pdf/2604.1694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chatgpt.com/share/6a2a3c91-5640-83ec-8761-25876b30abe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hyperlink" Target="https://chatgpt.com/share/6a2a3c8b-93f8-83ec-9452-052ef1ef7e87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https://www.facebook.com/share/v/18hsDrtGQZ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096000"/>
            <a:ext cx="6286500" cy="575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40000" b="1" dirty="0">
                <a:solidFill>
                  <a:srgbClr val="E0772B">
                    <a:alpha val="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5651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8BA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UNIVERSITY OF SCIENCE · VNU-HCM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299680" y="800100"/>
            <a:ext cx="8001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385405" y="885825"/>
            <a:ext cx="628650" cy="628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309330" y="800100"/>
            <a:ext cx="106427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0" r="-10" t="0" b="0"/>
          <a:stretch/>
        </p:blipFill>
        <p:spPr>
          <a:xfrm>
            <a:off x="16442680" y="885825"/>
            <a:ext cx="797570" cy="628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291185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MACHINE LEARNING COURSE PROJECT · 2026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914400" y="3767435"/>
            <a:ext cx="18105120" cy="1007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95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 </a:t>
            </a:r>
            <a:pPr algn="l" indent="0" marL="0">
              <a:lnSpc>
                <a:spcPct val="96000"/>
              </a:lnSpc>
              <a:buNone/>
            </a:pPr>
            <a:r>
              <a:rPr lang="en-US" sz="7950" b="1" spc="-225" kern="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</a:t>
            </a:r>
            <a:pPr algn="l" indent="0" marL="0">
              <a:lnSpc>
                <a:spcPct val="96000"/>
              </a:lnSpc>
              <a:buNone/>
            </a:pPr>
            <a:r>
              <a:rPr lang="en-US" sz="795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7950" dirty="0"/>
          </a:p>
        </p:txBody>
      </p:sp>
      <p:sp>
        <p:nvSpPr>
          <p:cNvPr id="10" name="Text 6"/>
          <p:cNvSpPr/>
          <p:nvPr/>
        </p:nvSpPr>
        <p:spPr>
          <a:xfrm>
            <a:off x="914400" y="4889004"/>
            <a:ext cx="181051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Agentic Python Dependency Resolution</a:t>
            </a:r>
            <a:endParaRPr lang="en-US" sz="2850" dirty="0"/>
          </a:p>
        </p:txBody>
      </p:sp>
      <p:sp>
        <p:nvSpPr>
          <p:cNvPr id="11" name="Shape 7"/>
          <p:cNvSpPr/>
          <p:nvPr/>
        </p:nvSpPr>
        <p:spPr>
          <a:xfrm>
            <a:off x="914400" y="5593854"/>
            <a:ext cx="1143000" cy="38100"/>
          </a:xfrm>
          <a:prstGeom prst="rect">
            <a:avLst/>
          </a:prstGeom>
          <a:solidFill>
            <a:srgbClr val="E0772B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914400" y="7323088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914400" y="7599313"/>
            <a:ext cx="95890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OVERVIEW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914400" y="7989838"/>
            <a:ext cx="897882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Khôi phục tự động môi trường Python từ mã nguồn cũ bằng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Multi-Agent LLM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 </a:t>
            </a:r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Constraint Acquisition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875" dirty="0"/>
          </a:p>
        </p:txBody>
      </p:sp>
      <p:sp>
        <p:nvSpPr>
          <p:cNvPr id="15" name="Text 11"/>
          <p:cNvSpPr/>
          <p:nvPr/>
        </p:nvSpPr>
        <p:spPr>
          <a:xfrm>
            <a:off x="10241310" y="7599313"/>
            <a:ext cx="78455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50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0241310" y="7932688"/>
            <a:ext cx="784551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Fangs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10241310" y="8389888"/>
            <a:ext cx="7845519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Huỳnh Trung Kiệt · 23122039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241310" y="8755559"/>
            <a:ext cx="7845519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 Sỹ Duy Minh · 23122041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0241310" y="9121229"/>
            <a:ext cx="7845519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Trần Chí Nguyên · 23122044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MỤC LỤC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 chính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64592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43100"/>
            <a:ext cx="8191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943100" y="2047875"/>
            <a:ext cx="84144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cảnh, bài toán &amp; công trình liên quan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177605"/>
            <a:ext cx="164592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77505"/>
            <a:ext cx="8191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943100" y="3482280"/>
            <a:ext cx="67388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MEMRES: phương pháp nền tảng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612160"/>
            <a:ext cx="16459200" cy="1905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12060"/>
            <a:ext cx="8191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1943100" y="4916835"/>
            <a:ext cx="525594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đề xuất của nhóm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056090"/>
            <a:ext cx="164592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6255990"/>
            <a:ext cx="8191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943100" y="6360765"/>
            <a:ext cx="453397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thực nghiệm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8490645"/>
            <a:ext cx="164592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7690545"/>
            <a:ext cx="8191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6E7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943100" y="7795320"/>
            <a:ext cx="565539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chế &amp; hướng phát triển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14400" y="9124950"/>
            <a:ext cx="16459200" cy="9525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9286875"/>
            <a:ext cx="169529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+ 8 slide Backup cho Q&amp;A: Filter/Solver I/O · Agent Comm · Session Store · LLM Call · Build Loop · 3 Prompt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14423" y="2000250"/>
            <a:ext cx="7477170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3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4600" y="2762250"/>
            <a:ext cx="7239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21950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5254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PHẦN 01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7704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toán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7834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7409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 · không gian tìm kiếm · bộ dữ liệu · công trình liên quan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BÀI TOÁN ·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 cảnh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076450"/>
            <a:ext cx="7658100" cy="6286500"/>
          </a:xfrm>
          <a:prstGeom prst="roundRect">
            <a:avLst>
              <a:gd name="adj" fmla="val 2424"/>
            </a:avLst>
          </a:prstGeom>
          <a:solidFill>
            <a:srgbClr val="0F1A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3025" y="2409825"/>
            <a:ext cx="666750" cy="666750"/>
          </a:xfrm>
          <a:prstGeom prst="ellipse">
            <a:avLst/>
          </a:prstGeom>
          <a:solidFill>
            <a:srgbClr val="F3D55B"/>
          </a:solidFill>
          <a:ln/>
          <a:effectLst>
            <a:outerShdw sx="100000" sy="100000" kx="0" ky="0" algn="bl" rotWithShape="0" blurRad="361950" dist="50800" dir="16200000">
              <a:srgbClr val="F3D55B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4475" y="2371725"/>
            <a:ext cx="628650" cy="628650"/>
          </a:xfrm>
          <a:prstGeom prst="ellipse">
            <a:avLst/>
          </a:prstGeom>
          <a:solidFill>
            <a:srgbClr val="0F1A1F"/>
          </a:solidFill>
          <a:ln/>
        </p:spPr>
      </p:sp>
      <p:sp>
        <p:nvSpPr>
          <p:cNvPr id="7" name="Shape 5"/>
          <p:cNvSpPr/>
          <p:nvPr/>
        </p:nvSpPr>
        <p:spPr>
          <a:xfrm>
            <a:off x="3590925" y="2657475"/>
            <a:ext cx="47625" cy="47625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24425" y="2524125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67425" y="3000375"/>
            <a:ext cx="47625" cy="47625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828925" y="3228975"/>
            <a:ext cx="38100" cy="3810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10425" y="2828925"/>
            <a:ext cx="38100" cy="3810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3925" y="6924675"/>
            <a:ext cx="7639050" cy="1428750"/>
          </a:xfrm>
          <a:prstGeom prst="rect">
            <a:avLst/>
          </a:prstGeom>
          <a:solidFill>
            <a:srgbClr val="1624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425" y="4905375"/>
            <a:ext cx="1409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reqs.txt mất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343025" y="5495925"/>
            <a:ext cx="952500" cy="1428750"/>
          </a:xfrm>
          <a:prstGeom prst="roundRect">
            <a:avLst>
              <a:gd name="adj" fmla="val 50000"/>
            </a:avLst>
          </a:prstGeom>
          <a:solidFill>
            <a:srgbClr val="243439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6375" y="579120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71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R.I.P.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692" y="4876800"/>
            <a:ext cx="13201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2/3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3292525" y="5210175"/>
            <a:ext cx="952500" cy="1714500"/>
          </a:xfrm>
          <a:prstGeom prst="roundRect">
            <a:avLst>
              <a:gd name="adj" fmla="val 50000"/>
            </a:avLst>
          </a:prstGeom>
          <a:solidFill>
            <a:srgbClr val="243439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5875" y="554355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71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R.I.P.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91911" y="5067300"/>
            <a:ext cx="14522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removed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5241875" y="5400675"/>
            <a:ext cx="952500" cy="1524000"/>
          </a:xfrm>
          <a:prstGeom prst="roundRect">
            <a:avLst>
              <a:gd name="adj" fmla="val 50000"/>
            </a:avLst>
          </a:prstGeom>
          <a:solidFill>
            <a:srgbClr val="243439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5225" y="571500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71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R.I.P.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07543" y="4876800"/>
            <a:ext cx="13201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wheel fail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7191375" y="5210175"/>
            <a:ext cx="952500" cy="1714500"/>
          </a:xfrm>
          <a:prstGeom prst="roundRect">
            <a:avLst>
              <a:gd name="adj" fmla="val 50000"/>
            </a:avLst>
          </a:prstGeom>
          <a:solidFill>
            <a:srgbClr val="243439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725" y="554355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71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R.I.P.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1973" y="7562850"/>
            <a:ext cx="84029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i="1" dirty="0">
                <a:solidFill>
                  <a:srgbClr val="B7C4C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 nghìn gist Python “chết môi trường”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9806285" y="4471988"/>
            <a:ext cx="11709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 sinh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048875" y="496728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9573518" y="5710238"/>
            <a:ext cx="1716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MEMRES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2134850" y="2076450"/>
            <a:ext cx="5238750" cy="62865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153900" y="2095500"/>
            <a:ext cx="5200650" cy="523875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325350" y="2295525"/>
            <a:ext cx="123825" cy="123825"/>
          </a:xfrm>
          <a:prstGeom prst="ellipse">
            <a:avLst/>
          </a:prstGeom>
          <a:solidFill>
            <a:srgbClr val="E0594B"/>
          </a:solidFill>
          <a:ln/>
        </p:spPr>
      </p:sp>
      <p:sp>
        <p:nvSpPr>
          <p:cNvPr id="32" name="Shape 30"/>
          <p:cNvSpPr/>
          <p:nvPr/>
        </p:nvSpPr>
        <p:spPr>
          <a:xfrm>
            <a:off x="12534900" y="2295525"/>
            <a:ext cx="123825" cy="123825"/>
          </a:xfrm>
          <a:prstGeom prst="ellipse">
            <a:avLst/>
          </a:prstGeom>
          <a:solidFill>
            <a:srgbClr val="E0A94B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44450" y="2295525"/>
            <a:ext cx="123825" cy="123825"/>
          </a:xfrm>
          <a:prstGeom prst="ellipse">
            <a:avLst/>
          </a:prstGeom>
          <a:solidFill>
            <a:srgbClr val="5BBD7E"/>
          </a:solidFill>
          <a:ln/>
        </p:spPr>
      </p:sp>
      <p:sp>
        <p:nvSpPr>
          <p:cNvPr id="34" name="Text 32"/>
          <p:cNvSpPr/>
          <p:nvPr/>
        </p:nvSpPr>
        <p:spPr>
          <a:xfrm>
            <a:off x="13030200" y="2228850"/>
            <a:ext cx="13201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3CDC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env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2477750" y="3076575"/>
            <a:ext cx="4689539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-r reqs.txt</a:t>
            </a:r>
            <a:endParaRPr lang="en-US" sz="2475" dirty="0"/>
          </a:p>
        </p:txBody>
      </p:sp>
      <p:sp>
        <p:nvSpPr>
          <p:cNvPr id="36" name="Text 34"/>
          <p:cNvSpPr/>
          <p:nvPr/>
        </p:nvSpPr>
        <p:spPr>
          <a:xfrm>
            <a:off x="12477750" y="4389090"/>
            <a:ext cx="4689539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resolving scipy · numpy …</a:t>
            </a:r>
            <a:endParaRPr lang="en-US" sz="2475" dirty="0"/>
          </a:p>
        </p:txBody>
      </p:sp>
      <p:sp>
        <p:nvSpPr>
          <p:cNvPr id="37" name="Text 35"/>
          <p:cNvSpPr/>
          <p:nvPr/>
        </p:nvSpPr>
        <p:spPr>
          <a:xfrm>
            <a:off x="12477750" y="5701605"/>
            <a:ext cx="500824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gist.py</a:t>
            </a:r>
            <a:endParaRPr lang="en-US" sz="2475" dirty="0"/>
          </a:p>
        </p:txBody>
      </p:sp>
      <p:sp>
        <p:nvSpPr>
          <p:cNvPr id="38" name="Text 36"/>
          <p:cNvSpPr/>
          <p:nvPr/>
        </p:nvSpPr>
        <p:spPr>
          <a:xfrm>
            <a:off x="12477750" y="6574185"/>
            <a:ext cx="500824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5 imports OK</a:t>
            </a:r>
            <a:endParaRPr lang="en-US" sz="2475" dirty="0"/>
          </a:p>
        </p:txBody>
      </p:sp>
      <p:sp>
        <p:nvSpPr>
          <p:cNvPr id="39" name="Text 37"/>
          <p:cNvSpPr/>
          <p:nvPr/>
        </p:nvSpPr>
        <p:spPr>
          <a:xfrm>
            <a:off x="12477750" y="7446764"/>
            <a:ext cx="500824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7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env restored</a:t>
            </a:r>
            <a:endParaRPr lang="en-US" sz="2475" dirty="0"/>
          </a:p>
        </p:txBody>
      </p:sp>
      <p:sp>
        <p:nvSpPr>
          <p:cNvPr id="40" name="Text 38"/>
          <p:cNvSpPr/>
          <p:nvPr/>
        </p:nvSpPr>
        <p:spPr>
          <a:xfrm>
            <a:off x="91440" y="8705850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tiêu: </a:t>
            </a:r>
            <a:pPr algn="ctr" indent="0" marL="0">
              <a:buNone/>
            </a:pPr>
            <a:r>
              <a:rPr lang="en-US" sz="20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động dựng lại môi trường </a:t>
            </a:r>
            <a:pPr algn="ctr" indent="0" marL="0">
              <a:buNone/>
            </a:pPr>
            <a:r>
              <a:rPr lang="en-US" sz="2025" b="1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được </a:t>
            </a:r>
            <a:pPr algn="ctr" indent="0" marL="0">
              <a:buNone/>
            </a:pPr>
            <a:r>
              <a:rPr lang="en-US" sz="20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mã Python “chết”.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BÀI TOÁN ·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toán &amp; Yêu cầu đánh giá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188071"/>
            <a:ext cx="5175945" cy="2208758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387304"/>
            <a:ext cx="5175945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88071"/>
            <a:ext cx="5175945" cy="47625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88071"/>
            <a:ext cx="9525" cy="2208758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80820" y="2188071"/>
            <a:ext cx="9525" cy="2208758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2521446"/>
            <a:ext cx="50439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675" y="2950071"/>
            <a:ext cx="4722956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snippet (gist cũ) · không metadata, không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requirements.txt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Python version chưa biết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261795" y="2188071"/>
            <a:ext cx="552450" cy="2246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750" dirty="0"/>
          </a:p>
        </p:txBody>
      </p:sp>
      <p:sp>
        <p:nvSpPr>
          <p:cNvPr id="12" name="Shape 10"/>
          <p:cNvSpPr/>
          <p:nvPr/>
        </p:nvSpPr>
        <p:spPr>
          <a:xfrm>
            <a:off x="6909495" y="2188071"/>
            <a:ext cx="4469011" cy="2208758"/>
          </a:xfrm>
          <a:prstGeom prst="roundRect">
            <a:avLst>
              <a:gd name="adj" fmla="val 5175"/>
            </a:avLst>
          </a:prstGeom>
          <a:solidFill>
            <a:srgbClr val="E0772B"/>
          </a:solidFill>
          <a:ln/>
        </p:spPr>
      </p:sp>
      <p:sp>
        <p:nvSpPr>
          <p:cNvPr id="13" name="Text 11"/>
          <p:cNvSpPr/>
          <p:nvPr/>
        </p:nvSpPr>
        <p:spPr>
          <a:xfrm>
            <a:off x="7195245" y="2944713"/>
            <a:ext cx="42872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195245" y="3354288"/>
            <a:ext cx="42872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dưới ràng buộc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49955" y="2188071"/>
            <a:ext cx="552450" cy="2246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750" dirty="0"/>
          </a:p>
        </p:txBody>
      </p:sp>
      <p:sp>
        <p:nvSpPr>
          <p:cNvPr id="16" name="Shape 14"/>
          <p:cNvSpPr/>
          <p:nvPr/>
        </p:nvSpPr>
        <p:spPr>
          <a:xfrm>
            <a:off x="12197655" y="2188071"/>
            <a:ext cx="5175945" cy="2208758"/>
          </a:xfrm>
          <a:prstGeom prst="roundRect">
            <a:avLst>
              <a:gd name="adj" fmla="val 5175"/>
            </a:avLst>
          </a:prstGeom>
          <a:solidFill>
            <a:srgbClr val="EF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97655" y="4387304"/>
            <a:ext cx="5175945" cy="9525"/>
          </a:xfrm>
          <a:prstGeom prst="rect">
            <a:avLst/>
          </a:prstGeom>
          <a:solidFill>
            <a:srgbClr val="2E7D5B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197655" y="2188071"/>
            <a:ext cx="5175945" cy="4762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97655" y="2188071"/>
            <a:ext cx="9525" cy="2208758"/>
          </a:xfrm>
          <a:prstGeom prst="rect">
            <a:avLst/>
          </a:prstGeom>
          <a:solidFill>
            <a:srgbClr val="2E7D5B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364075" y="2188071"/>
            <a:ext cx="9525" cy="2208758"/>
          </a:xfrm>
          <a:prstGeom prst="rect">
            <a:avLst/>
          </a:prstGeom>
          <a:solidFill>
            <a:srgbClr val="2E7D5B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492930" y="2713286"/>
            <a:ext cx="50439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92930" y="3141911"/>
            <a:ext cx="472295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version ·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packages (pinned) ·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apt-get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libs (tùy chọn)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5118199"/>
            <a:ext cx="16459200" cy="781050"/>
          </a:xfrm>
          <a:prstGeom prst="roundRect">
            <a:avLst>
              <a:gd name="adj" fmla="val 1219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637" y="5337274"/>
            <a:ext cx="164767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 chí thành công: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highlight>
                  <a:srgbClr val="EAF2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highlight>
                  <a:srgbClr val="EAF2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được trong Docker: không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ImportError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highlight>
                  <a:srgbClr val="EAF2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ModuleNotFoundError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highlight>
                  <a:srgbClr val="EAF2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 </a:t>
            </a:r>
            <a:pPr algn="ctr" indent="0" marL="0">
              <a:buNone/>
            </a:pPr>
            <a:r>
              <a:rPr lang="en-US" sz="2025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SyntaxError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14400" y="6620619"/>
            <a:ext cx="5334000" cy="2792611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9403705"/>
            <a:ext cx="533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6620619"/>
            <a:ext cx="5334000" cy="47625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38875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0625" y="7354044"/>
            <a:ext cx="4781550" cy="19050"/>
          </a:xfrm>
          <a:prstGeom prst="rect">
            <a:avLst/>
          </a:prstGeom>
          <a:solidFill>
            <a:srgbClr val="23373B"/>
          </a:solidFill>
          <a:ln/>
        </p:spPr>
      </p:sp>
      <p:sp>
        <p:nvSpPr>
          <p:cNvPr id="31" name="Text 29"/>
          <p:cNvSpPr/>
          <p:nvPr/>
        </p:nvSpPr>
        <p:spPr>
          <a:xfrm>
            <a:off x="1190625" y="6915894"/>
            <a:ext cx="4924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requirements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190625" y="7639794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428006" y="7544544"/>
            <a:ext cx="32531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thao tác trong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90625" y="8095059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428006" y="7999809"/>
            <a:ext cx="41256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open-source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≤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 GB VRAM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90625" y="8550325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428006" y="8455075"/>
            <a:ext cx="422505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Reference: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Gemma-2 9B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(Ollama)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477000" y="6620619"/>
            <a:ext cx="5334000" cy="2792611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477000" y="9403705"/>
            <a:ext cx="533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77000" y="6620619"/>
            <a:ext cx="5334000" cy="47625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7000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801475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53225" y="7354044"/>
            <a:ext cx="4781550" cy="1905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44" name="Text 42"/>
          <p:cNvSpPr/>
          <p:nvPr/>
        </p:nvSpPr>
        <p:spPr>
          <a:xfrm>
            <a:off x="6753225" y="6915894"/>
            <a:ext cx="4924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Evaluation budget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6753225" y="7639794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990606" y="7544544"/>
            <a:ext cx="468049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build timeout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180s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≤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build/snippet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53225" y="8426500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6990606" y="8331250"/>
            <a:ext cx="418281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⇒ trần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≈1800s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wall-clock/snippet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753225" y="8881765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6990606" y="8786515"/>
            <a:ext cx="4285152" cy="40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</a:t>
            </a:r>
            <a:pPr algn="l" indent="0" marL="0">
              <a:lnSpc>
                <a:spcPct val="145000"/>
              </a:lnSpc>
              <a:buNone/>
            </a:pPr>
            <a:r>
              <a:rPr lang="en-US" sz="1500" baseline="-400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solve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≤50 (logic, no Docker); 1 worker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039600" y="6620619"/>
            <a:ext cx="5334000" cy="2792611"/>
          </a:xfrm>
          <a:prstGeom prst="roundRect">
            <a:avLst>
              <a:gd name="adj" fmla="val 4093"/>
            </a:avLst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2039600" y="9403705"/>
            <a:ext cx="5334000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2039600" y="6620619"/>
            <a:ext cx="5334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12039600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7364075" y="6620619"/>
            <a:ext cx="9525" cy="2792611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315825" y="7354044"/>
            <a:ext cx="4781550" cy="1905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57" name="Text 55"/>
          <p:cNvSpPr/>
          <p:nvPr/>
        </p:nvSpPr>
        <p:spPr>
          <a:xfrm>
            <a:off x="12315825" y="6915894"/>
            <a:ext cx="49249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Metrics</a:t>
            </a:r>
            <a:endParaRPr lang="en-US" sz="2025" dirty="0"/>
          </a:p>
        </p:txBody>
      </p:sp>
      <p:sp>
        <p:nvSpPr>
          <p:cNvPr id="58" name="Text 56"/>
          <p:cNvSpPr/>
          <p:nvPr/>
        </p:nvSpPr>
        <p:spPr>
          <a:xfrm>
            <a:off x="12315825" y="7639794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12553206" y="7544544"/>
            <a:ext cx="242930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 rate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(primary)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2315825" y="8095059"/>
            <a:ext cx="19928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12553206" y="7999809"/>
            <a:ext cx="468049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Avg time / snippet: đo trong cùng trần ≈1800s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BÀI TOÁN ·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 Dependency Gap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000250"/>
            <a:ext cx="9796463" cy="2676525"/>
          </a:xfrm>
          <a:prstGeom prst="roundRect">
            <a:avLst>
              <a:gd name="adj" fmla="val 4270"/>
            </a:avLst>
          </a:prstGeom>
          <a:solidFill>
            <a:srgbClr val="16242A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438400"/>
            <a:ext cx="9344739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E6EA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scipy.misc import imread </a:t>
            </a:r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bỏ ở scipy ≥ 1.3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350" y="3038475"/>
            <a:ext cx="9344739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E6EA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sklearn.cross_validation </a:t>
            </a:r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bỏ ở sklearn ≥ 0.20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76350" y="3638550"/>
            <a:ext cx="9344739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E6EA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cv2 </a:t>
            </a:r>
            <a:pPr algn="l" indent="0" marL="0">
              <a:lnSpc>
                <a:spcPct val="210000"/>
              </a:lnSpc>
              <a:buNone/>
            </a:pPr>
            <a:r>
              <a:rPr lang="en-US" sz="225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tên PyPI: opencv-python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5295900"/>
            <a:ext cx="2403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50007" y="5191125"/>
            <a:ext cx="800366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 import gây hiểu lầm: </a:t>
            </a:r>
            <a:pPr algn="l" indent="0" marL="0">
              <a:buNone/>
            </a:pPr>
            <a:r>
              <a:rPr lang="en-US" sz="24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cv2 → opencv-python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6086475"/>
            <a:ext cx="2403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50007" y="5981700"/>
            <a:ext cx="81051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biến mất: </a:t>
            </a:r>
            <a:pPr algn="l" indent="0" marL="0">
              <a:buNone/>
            </a:pPr>
            <a:r>
              <a:rPr lang="en-US" sz="24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imread </a:t>
            </a:r>
            <a:pPr algn="l" indent="0" marL="0">
              <a:buNone/>
            </a:pPr>
            <a:r>
              <a:rPr lang="en-US" sz="24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tới scipy ≤ 1.2 (bỏ ở 1.3)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867525"/>
            <a:ext cx="2403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0007" y="6772275"/>
            <a:ext cx="950080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ứng domino: </a:t>
            </a:r>
            <a:pPr algn="l" indent="0" marL="0">
              <a:buNone/>
            </a:pPr>
            <a:r>
              <a:rPr lang="en-US" sz="24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scipy ≤ 1.2 → Python ≤ 3.7 → numpy cũ …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11232356" y="5734050"/>
            <a:ext cx="748754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6242A">
                <a:alpha val="1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75231" y="5819775"/>
            <a:ext cx="5392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cv2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1981111" y="5838825"/>
            <a:ext cx="314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219236" y="5734050"/>
            <a:ext cx="121161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6242A">
                <a:alpha val="1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362111" y="5819775"/>
            <a:ext cx="100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imread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13430845" y="5838825"/>
            <a:ext cx="314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3668970" y="5734050"/>
            <a:ext cx="1661666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16242A">
                <a:alpha val="1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811845" y="5819775"/>
            <a:ext cx="14521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scipy≤1.2</a:t>
            </a:r>
            <a:endParaRPr lang="en-US" sz="2025" dirty="0"/>
          </a:p>
        </p:txBody>
      </p:sp>
      <p:sp>
        <p:nvSpPr>
          <p:cNvPr id="47" name="Text 45"/>
          <p:cNvSpPr/>
          <p:nvPr/>
        </p:nvSpPr>
        <p:spPr>
          <a:xfrm>
            <a:off x="15330636" y="5838825"/>
            <a:ext cx="314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5568761" y="5734050"/>
            <a:ext cx="1816001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077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711636" y="5819775"/>
            <a:ext cx="1606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Python≤3.7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11317188" y="6667500"/>
            <a:ext cx="56806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ứng domino trong Dependency Hell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14400" y="9248775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67512" y="9429750"/>
            <a:ext cx="169529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gian tìm kiếm: ~</a:t>
            </a:r>
            <a:pPr algn="ct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500K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 PyPI × </a:t>
            </a:r>
            <a:pPr algn="ct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chục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 bản × </a:t>
            </a:r>
            <a:pPr algn="ct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Python ⇒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bùng nổ tổ hợp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950" dirty="0"/>
          </a:p>
        </p:txBody>
      </p:sp>
      <p:pic>
        <p:nvPicPr>
          <p:cNvPr id="53" name="Picture 52" descr="domin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825496"/>
            <a:ext cx="6336792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BÀI TOÁN ·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Bùng nổ tổ hợp: Không gian tìm kiếm khổng lồ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52874" y="2038350"/>
            <a:ext cx="2659410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70436" y="2257425"/>
            <a:ext cx="202428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~500K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3070436" y="2886075"/>
            <a:ext cx="20242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 PyPI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36134" y="2438400"/>
            <a:ext cx="36343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347222" y="2038350"/>
            <a:ext cx="2624882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6510" y="2257425"/>
            <a:ext cx="198630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~10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6666510" y="2886075"/>
            <a:ext cx="19863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 bản / gói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295954" y="2438400"/>
            <a:ext cx="36343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×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9907042" y="2038350"/>
            <a:ext cx="2651373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5006" y="2257425"/>
            <a:ext cx="201544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~8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0225006" y="2886075"/>
            <a:ext cx="20154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runtime Python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882265" y="2438400"/>
            <a:ext cx="42014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3550057" y="2047875"/>
            <a:ext cx="1985070" cy="1362075"/>
          </a:xfrm>
          <a:prstGeom prst="roundRect">
            <a:avLst>
              <a:gd name="adj" fmla="val 9790"/>
            </a:avLst>
          </a:prstGeom>
          <a:solidFill>
            <a:srgbClr val="B5483F"/>
          </a:solidFill>
          <a:ln/>
        </p:spPr>
      </p:sp>
      <p:sp>
        <p:nvSpPr>
          <p:cNvPr id="17" name="Text 15"/>
          <p:cNvSpPr/>
          <p:nvPr/>
        </p:nvSpPr>
        <p:spPr>
          <a:xfrm>
            <a:off x="13912007" y="2257425"/>
            <a:ext cx="12611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≈10</a:t>
            </a:r>
            <a:pPr algn="ctr" indent="0" marL="0">
              <a:lnSpc>
                <a:spcPct val="100000"/>
              </a:lnSpc>
              <a:buNone/>
            </a:pPr>
            <a:r>
              <a:rPr lang="en-US" sz="2400" b="1" baseline="300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4350" dirty="0"/>
          </a:p>
        </p:txBody>
      </p:sp>
      <p:sp>
        <p:nvSpPr>
          <p:cNvPr id="18" name="Text 16"/>
          <p:cNvSpPr/>
          <p:nvPr/>
        </p:nvSpPr>
        <p:spPr>
          <a:xfrm>
            <a:off x="13912007" y="2886075"/>
            <a:ext cx="1261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 hợp</a:t>
            </a:r>
            <a:endParaRPr lang="en-US" sz="1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417219"/>
            <a:ext cx="10350103" cy="388128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827734" y="8584257"/>
            <a:ext cx="71757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Mò kim đáy bể: 1 tổ hợp đúng giữa ~10⁷ ứng viên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78853" y="4405313"/>
            <a:ext cx="615422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</a:t>
            </a:r>
            <a:pPr algn="l" indent="0" marL="0">
              <a:buNone/>
            </a:pPr>
            <a:r>
              <a:rPr lang="en-US" sz="2700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27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khớp đồng thời: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1778853" y="5262563"/>
            <a:ext cx="264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12139017" y="5186363"/>
            <a:ext cx="53916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</a:t>
            </a:r>
            <a:pPr algn="l" indent="0" marL="0"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đúng tên pip </a:t>
            </a:r>
            <a:pPr algn="l" indent="0" marL="0">
              <a:buNone/>
            </a:pPr>
            <a:r>
              <a:rPr lang="en-US" sz="217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(cv2 → opencv-python)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1778853" y="6386513"/>
            <a:ext cx="264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725" dirty="0"/>
          </a:p>
        </p:txBody>
      </p:sp>
      <p:sp>
        <p:nvSpPr>
          <p:cNvPr id="25" name="Text 22"/>
          <p:cNvSpPr/>
          <p:nvPr/>
        </p:nvSpPr>
        <p:spPr>
          <a:xfrm>
            <a:off x="12139017" y="6310313"/>
            <a:ext cx="53662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Version</a:t>
            </a:r>
            <a:pPr algn="l" indent="0" marL="0"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1 trong ~10 bản thư viện</a:t>
            </a:r>
            <a:endParaRPr lang="en-US" sz="2475" dirty="0"/>
          </a:p>
        </p:txBody>
      </p:sp>
      <p:sp>
        <p:nvSpPr>
          <p:cNvPr id="26" name="Text 23"/>
          <p:cNvSpPr/>
          <p:nvPr/>
        </p:nvSpPr>
        <p:spPr>
          <a:xfrm>
            <a:off x="11778853" y="7110413"/>
            <a:ext cx="2649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2139017" y="7034213"/>
            <a:ext cx="43586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pPr algn="l" indent="0" marL="0"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1 trong ~8 runtime</a:t>
            </a:r>
            <a:endParaRPr lang="en-US" sz="2475" dirty="0"/>
          </a:p>
        </p:txBody>
      </p:sp>
      <p:sp>
        <p:nvSpPr>
          <p:cNvPr id="28" name="Shape 25"/>
          <p:cNvSpPr/>
          <p:nvPr/>
        </p:nvSpPr>
        <p:spPr>
          <a:xfrm>
            <a:off x="11778853" y="7834313"/>
            <a:ext cx="5594747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1778853" y="8148638"/>
            <a:ext cx="5762589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⇒ Không thể thử hết bằng tay, cần </a:t>
            </a:r>
            <a:pPr algn="l" indent="0" marL="0">
              <a:buNone/>
            </a:pPr>
            <a:r>
              <a:rPr lang="en-US" sz="24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solver / agent </a:t>
            </a:r>
            <a:pPr algn="l" indent="0" marL="0">
              <a:buNone/>
            </a:pPr>
            <a:r>
              <a:rPr lang="en-US" sz="24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</a:t>
            </a:r>
            <a:pPr algn="l" indent="0" marL="0">
              <a:buNone/>
            </a:pPr>
            <a:r>
              <a:rPr lang="en-US" sz="2475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tỉa không gian</a:t>
            </a:r>
            <a:pPr algn="l" indent="0" marL="0">
              <a:buNone/>
            </a:pPr>
            <a:r>
              <a:rPr lang="en-US" sz="24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4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BÀI TOÁN ·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Datasets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47850"/>
            <a:ext cx="8039100" cy="7094339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925" y="1857375"/>
            <a:ext cx="8020050" cy="85725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Shape 4"/>
          <p:cNvSpPr/>
          <p:nvPr/>
        </p:nvSpPr>
        <p:spPr>
          <a:xfrm>
            <a:off x="1400175" y="3305175"/>
            <a:ext cx="7067550" cy="9525"/>
          </a:xfrm>
          <a:prstGeom prst="rect">
            <a:avLst/>
          </a:prstGeom>
          <a:solidFill>
            <a:srgbClr val="2C3E6B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00175" y="2457450"/>
            <a:ext cx="208927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HG2.9K</a:t>
            </a:r>
            <a:endParaRPr lang="en-US" sz="3750" dirty="0"/>
          </a:p>
        </p:txBody>
      </p:sp>
      <p:sp>
        <p:nvSpPr>
          <p:cNvPr id="8" name="Shape 6"/>
          <p:cNvSpPr/>
          <p:nvPr/>
        </p:nvSpPr>
        <p:spPr>
          <a:xfrm>
            <a:off x="6191250" y="2538413"/>
            <a:ext cx="2276475" cy="438150"/>
          </a:xfrm>
          <a:prstGeom prst="roundRect">
            <a:avLst>
              <a:gd name="adj" fmla="val 10870"/>
            </a:avLst>
          </a:prstGeom>
          <a:solidFill>
            <a:srgbClr val="2C3E6B"/>
          </a:solidFill>
          <a:ln/>
        </p:spPr>
      </p:sp>
      <p:sp>
        <p:nvSpPr>
          <p:cNvPr id="9" name="Text 7"/>
          <p:cNvSpPr/>
          <p:nvPr/>
        </p:nvSpPr>
        <p:spPr>
          <a:xfrm>
            <a:off x="6343650" y="2614613"/>
            <a:ext cx="20478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IN-DISTRIBUTION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00175" y="3733354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mô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2.891 gist Python “khó” (hard subset của Gistable, ICSME’18).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400175" y="4999732"/>
            <a:ext cx="7279577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 điểm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file đơn, không requirements; lẫn Python 2/3; thư viện khoa học cũ; phụ thuộc native C/C++.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1400175" y="6709023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 vụ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khôi phục môi trường để mọi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được trong Docker.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1400175" y="7975402"/>
            <a:ext cx="777430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Pass rate (build + import OK).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9334500" y="1847850"/>
            <a:ext cx="8039100" cy="7094339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44025" y="1857375"/>
            <a:ext cx="8020050" cy="8572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Shape 14"/>
          <p:cNvSpPr/>
          <p:nvPr/>
        </p:nvSpPr>
        <p:spPr>
          <a:xfrm>
            <a:off x="9820275" y="3305175"/>
            <a:ext cx="7067550" cy="9525"/>
          </a:xfrm>
          <a:prstGeom prst="rect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20275" y="2457450"/>
            <a:ext cx="380971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GitChameleon</a:t>
            </a:r>
            <a:endParaRPr lang="en-US" sz="3750" dirty="0"/>
          </a:p>
        </p:txBody>
      </p:sp>
      <p:sp>
        <p:nvSpPr>
          <p:cNvPr id="18" name="Shape 16"/>
          <p:cNvSpPr/>
          <p:nvPr/>
        </p:nvSpPr>
        <p:spPr>
          <a:xfrm>
            <a:off x="14085540" y="2538413"/>
            <a:ext cx="2802285" cy="438150"/>
          </a:xfrm>
          <a:prstGeom prst="roundRect">
            <a:avLst>
              <a:gd name="adj" fmla="val 10870"/>
            </a:avLst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14237940" y="2614613"/>
            <a:ext cx="25815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OUT-OF-DISTRIBUTION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820275" y="3733354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mô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328 snippet Python, kèm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unit test ẩn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 version ground-truth.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9820275" y="4999732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Đặc điểm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xoáy vào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breaking changes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 các version (phải dùng đúng API của đúng bản).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9820275" y="6266111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 vụ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chọn </a:t>
            </a:r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phiên bản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snippet vừa chạy vừa pass unit test.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9820275" y="7532489"/>
            <a:ext cx="727957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giá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Pass rate theo unit test (đúng ngữ nghĩa).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667512" y="91517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HG2.9K: hard subset 2891 gist từ Gistable (Horton &amp; Parnin, ICSME’18). GitChameleon: 328 snippet có unit test, re-frame từ GitChameleon 2.0 (arXiv:2507.12367) để đánh giá tổng quát hóa (OOD).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CÔNG TRÌNH LIÊN QUAN ·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Related Work: 3 hướng tiếp cận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823567"/>
            <a:ext cx="5308550" cy="5297091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925" y="2833092"/>
            <a:ext cx="5289500" cy="762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6" name="Shape 4"/>
          <p:cNvSpPr/>
          <p:nvPr/>
        </p:nvSpPr>
        <p:spPr>
          <a:xfrm>
            <a:off x="1247775" y="3195042"/>
            <a:ext cx="457200" cy="457200"/>
          </a:xfrm>
          <a:prstGeom prst="ellipse">
            <a:avLst/>
          </a:prstGeom>
          <a:solidFill>
            <a:srgbClr val="2C3E6B"/>
          </a:solidFill>
          <a:ln/>
        </p:spPr>
      </p:sp>
      <p:sp>
        <p:nvSpPr>
          <p:cNvPr id="7" name="Text 5"/>
          <p:cNvSpPr/>
          <p:nvPr/>
        </p:nvSpPr>
        <p:spPr>
          <a:xfrm>
            <a:off x="1209675" y="31950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57375" y="3242667"/>
            <a:ext cx="28315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Knowledge Graph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47775" y="3823692"/>
            <a:ext cx="4641800" cy="28575"/>
          </a:xfrm>
          <a:prstGeom prst="roundRect">
            <a:avLst>
              <a:gd name="adj" fmla="val 50000"/>
            </a:avLst>
          </a:prstGeom>
          <a:solidFill>
            <a:srgbClr val="2C3E6B"/>
          </a:solidFill>
          <a:ln/>
        </p:spPr>
      </p:sp>
      <p:sp>
        <p:nvSpPr>
          <p:cNvPr id="10" name="Text 8"/>
          <p:cNvSpPr/>
          <p:nvPr/>
        </p:nvSpPr>
        <p:spPr>
          <a:xfrm>
            <a:off x="1247775" y="4061817"/>
            <a:ext cx="4781054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 tưởng: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encode quan hệ module–version thành đồ thị tri thức (Libraries.io, PyPI); truy vấn để suy dependency tương thích.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" y="5924550"/>
            <a:ext cx="4781054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Ưu: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rõ, deterministic, dễ giải thích.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7775" y="6960691"/>
            <a:ext cx="4781054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Hạn chế: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 lỗi thời nhanh, gãy khi registry đổi schema.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89650" y="2823567"/>
            <a:ext cx="5308699" cy="5297091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9175" y="2833092"/>
            <a:ext cx="5289649" cy="76200"/>
          </a:xfrm>
          <a:prstGeom prst="rect">
            <a:avLst/>
          </a:prstGeom>
          <a:solidFill>
            <a:srgbClr val="C5A3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23025" y="3195042"/>
            <a:ext cx="457200" cy="457200"/>
          </a:xfrm>
          <a:prstGeom prst="ellipse">
            <a:avLst/>
          </a:prstGeom>
          <a:solidFill>
            <a:srgbClr val="C5A3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925" y="31950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432625" y="3242667"/>
            <a:ext cx="3297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5A3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Regex / Log-parsing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6823025" y="3823692"/>
            <a:ext cx="4641949" cy="28575"/>
          </a:xfrm>
          <a:prstGeom prst="roundRect">
            <a:avLst>
              <a:gd name="adj" fmla="val 50000"/>
            </a:avLst>
          </a:prstGeom>
          <a:solidFill>
            <a:srgbClr val="C5A33F"/>
          </a:solidFill>
          <a:ln/>
        </p:spPr>
      </p:sp>
      <p:sp>
        <p:nvSpPr>
          <p:cNvPr id="19" name="Text 17"/>
          <p:cNvSpPr/>
          <p:nvPr/>
        </p:nvSpPr>
        <p:spPr>
          <a:xfrm>
            <a:off x="6823025" y="4061817"/>
            <a:ext cx="478120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 tưởng: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parse error log bằng regex để suy missing dependency, patch môi trường rồi build lại.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23025" y="5511254"/>
            <a:ext cx="4781208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Ưu: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nhẹ, runtime-driven, không cần DB.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823025" y="6547396"/>
            <a:ext cx="478120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Hạn chế: </a:t>
            </a:r>
            <a:pPr algn="l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brittle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log đổi định dạng (Python/pip update) là parser vỡ.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065050" y="2823567"/>
            <a:ext cx="5308550" cy="5297091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4575" y="2833092"/>
            <a:ext cx="5289500" cy="762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98425" y="3195042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60325" y="319504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008025" y="3242667"/>
            <a:ext cx="17361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+ RAG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2398425" y="3823692"/>
            <a:ext cx="4641800" cy="28575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8" name="Text 26"/>
          <p:cNvSpPr/>
          <p:nvPr/>
        </p:nvSpPr>
        <p:spPr>
          <a:xfrm>
            <a:off x="12398425" y="4061817"/>
            <a:ext cx="4781054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 tưởng: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sinh giả thuyết, RAG cấp PyPI metadata, Docker build phản hồi, lặp lại.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398425" y="5511254"/>
            <a:ext cx="4781054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Ưu: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adaptive, không cần hạ tầng tĩnh, tận dụng pretrain.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398425" y="6547396"/>
            <a:ext cx="4781054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Hạn chế: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thử-sai mù, thất bại </a:t>
            </a:r>
            <a:pPr algn="l" indent="0" marL="0">
              <a:lnSpc>
                <a:spcPct val="155000"/>
              </a:lnSpc>
              <a:buNone/>
            </a:pPr>
            <a:r>
              <a:rPr lang="en-US" sz="2100" i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thành tri thức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tỉa không gian.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1440" y="9477375"/>
            <a:ext cx="181051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 trống: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phương pháp nào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từ thất bại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thu hẹp không gian tìm kiếm một cách hệ thống.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CÔNG TRÌNH LIÊN QUAN ·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Related Work: Tổng hợp các phương pháp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590800"/>
            <a:ext cx="2265313" cy="19050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152650"/>
            <a:ext cx="215101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79713" y="2590800"/>
            <a:ext cx="1327398" cy="19050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74963" y="2152650"/>
            <a:ext cx="121309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07111" y="2590800"/>
            <a:ext cx="2431405" cy="19050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602361" y="2152650"/>
            <a:ext cx="231710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38516" y="2590800"/>
            <a:ext cx="2603153" cy="19050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033766" y="2152650"/>
            <a:ext cx="249074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LIMITATION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609850"/>
            <a:ext cx="8627269" cy="895350"/>
          </a:xfrm>
          <a:prstGeom prst="rect">
            <a:avLst/>
          </a:prstGeom>
          <a:solidFill>
            <a:srgbClr val="2C3E6B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9650" y="2895600"/>
            <a:ext cx="2151013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PyEGo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74963" y="2895600"/>
            <a:ext cx="1213098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ICSE’22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602361" y="2895600"/>
            <a:ext cx="2317105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 + SMT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033766" y="2895600"/>
            <a:ext cx="2490747" cy="361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 stale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3505200"/>
            <a:ext cx="8627269" cy="885825"/>
          </a:xfrm>
          <a:prstGeom prst="rect">
            <a:avLst/>
          </a:prstGeom>
          <a:solidFill>
            <a:srgbClr val="2C3E6B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3790950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ReadPyE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274963" y="3790950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TSE’24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602361" y="3790950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 + README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033766" y="3790950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 drift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4391025"/>
            <a:ext cx="8627269" cy="885825"/>
          </a:xfrm>
          <a:prstGeom prst="rect">
            <a:avLst/>
          </a:prstGeom>
          <a:solidFill>
            <a:srgbClr val="B98A2E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" y="4676775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PyDFix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274963" y="4676775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ISSTA’21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602361" y="4676775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Regex log-parse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033766" y="4676775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Format brittle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14400" y="5276850"/>
            <a:ext cx="8627269" cy="885825"/>
          </a:xfrm>
          <a:prstGeom prst="rect">
            <a:avLst/>
          </a:prstGeom>
          <a:solidFill>
            <a:srgbClr val="2C3E6B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09650" y="5562600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GPT-4o / o1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3274963" y="5562600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2024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602361" y="5562600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LLM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033766" y="5562600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Closed, expensive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400" y="6162675"/>
            <a:ext cx="8627269" cy="885825"/>
          </a:xfrm>
          <a:prstGeom prst="rect">
            <a:avLst/>
          </a:prstGeom>
          <a:solidFill>
            <a:srgbClr val="2C3E6B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9650" y="6448425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GPT-4.1 + RAG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3274963" y="6448425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2025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4602361" y="6448425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+ RAG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7033766" y="6448425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 constraint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14400" y="7048500"/>
            <a:ext cx="8627269" cy="885825"/>
          </a:xfrm>
          <a:prstGeom prst="rect">
            <a:avLst/>
          </a:prstGeom>
          <a:solidFill>
            <a:srgbClr val="2E7D5B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9650" y="7334250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3274963" y="7334250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arXiv’25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4602361" y="7334250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 LLM + RAG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7033766" y="7334250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Blind trial-error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14400" y="7934325"/>
            <a:ext cx="8627269" cy="885825"/>
          </a:xfrm>
          <a:prstGeom prst="rect">
            <a:avLst/>
          </a:prstGeom>
          <a:solidFill>
            <a:srgbClr val="2E7D5B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09650" y="8220075"/>
            <a:ext cx="2151013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SMT-LLM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3274963" y="8220075"/>
            <a:ext cx="1213098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FSE’26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4602361" y="8220075"/>
            <a:ext cx="2317105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Z3 + LLM imput.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7033766" y="8220075"/>
            <a:ext cx="2490747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Static metadata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914400" y="9029700"/>
            <a:ext cx="5688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C3E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KG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16571" y="9029700"/>
            <a:ext cx="15099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98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Log-parse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3198763" y="9029700"/>
            <a:ext cx="164824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C3E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Closed LLM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4906714" y="9029700"/>
            <a:ext cx="19249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LLM+RAG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0695384" y="7791450"/>
            <a:ext cx="5905500" cy="19050"/>
          </a:xfrm>
          <a:prstGeom prst="rect">
            <a:avLst/>
          </a:prstGeom>
          <a:solidFill>
            <a:srgbClr val="16242A">
              <a:alpha val="3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695384" y="2476500"/>
            <a:ext cx="19050" cy="5334000"/>
          </a:xfrm>
          <a:prstGeom prst="rect">
            <a:avLst/>
          </a:prstGeom>
          <a:solidFill>
            <a:srgbClr val="16242A">
              <a:alpha val="3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714434" y="2476500"/>
            <a:ext cx="4709071" cy="5314950"/>
          </a:xfrm>
          <a:prstGeom prst="rect">
            <a:avLst/>
          </a:prstGeom>
          <a:gradFill rotWithShape="1">
            <a:gsLst>
              <a:gs pos="0">
                <a:srgbClr val="2C3E6B">
                  <a:alpha val="5000"/>
                </a:srgbClr>
              </a:gs>
              <a:gs pos="100000">
                <a:srgbClr val="2C3E6B">
                  <a:alpha val="2000"/>
                </a:srgbClr>
              </a:gs>
            </a:gsLst>
            <a:lin ang="5400000" scaled="0"/>
          </a:gradFill>
          <a:ln/>
        </p:spPr>
      </p:sp>
      <p:sp>
        <p:nvSpPr>
          <p:cNvPr id="54" name="Shape 52"/>
          <p:cNvSpPr/>
          <p:nvPr/>
        </p:nvSpPr>
        <p:spPr>
          <a:xfrm>
            <a:off x="15423505" y="2476500"/>
            <a:ext cx="1177379" cy="5314950"/>
          </a:xfrm>
          <a:prstGeom prst="rect">
            <a:avLst/>
          </a:prstGeom>
          <a:gradFill rotWithShape="1">
            <a:gsLst>
              <a:gs pos="0">
                <a:srgbClr val="2E7D5B">
                  <a:alpha val="6500"/>
                </a:srgbClr>
              </a:gs>
              <a:gs pos="100000">
                <a:srgbClr val="2E7D5B">
                  <a:alpha val="2500"/>
                </a:srgbClr>
              </a:gs>
            </a:gsLst>
            <a:lin ang="5400000" scaled="0"/>
          </a:gradFill>
          <a:ln/>
        </p:spPr>
      </p:sp>
      <p:sp>
        <p:nvSpPr>
          <p:cNvPr id="55" name="Shape 53"/>
          <p:cNvSpPr/>
          <p:nvPr/>
        </p:nvSpPr>
        <p:spPr>
          <a:xfrm>
            <a:off x="15423505" y="2476500"/>
            <a:ext cx="19050" cy="5314950"/>
          </a:xfrm>
          <a:prstGeom prst="rect">
            <a:avLst/>
          </a:prstGeom>
          <a:solidFill>
            <a:srgbClr val="16242A">
              <a:alpha val="22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714434" y="2095500"/>
            <a:ext cx="2891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rate HG2.9K (%)</a:t>
            </a:r>
            <a:endParaRPr lang="en-US" sz="1725" dirty="0"/>
          </a:p>
        </p:txBody>
      </p:sp>
      <p:cxnSp>
        <p:nvCxnSpPr>
          <p:cNvPr id="69" name="Connector 68"/>
          <p:cNvCxnSpPr/>
          <p:nvPr/>
        </p:nvCxnSpPr>
        <p:spPr>
          <a:xfrm>
            <a:off x="10714434" y="4297858"/>
            <a:ext cx="5886450" cy="0"/>
          </a:xfrm>
          <a:prstGeom prst="line">
            <a:avLst/>
          </a:prstGeom>
          <a:ln w="28575">
            <a:solidFill>
              <a:srgbClr val="B548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Shape 56"/>
          <p:cNvSpPr/>
          <p:nvPr/>
        </p:nvSpPr>
        <p:spPr>
          <a:xfrm>
            <a:off x="10771584" y="3902571"/>
            <a:ext cx="2468880" cy="352425"/>
          </a:xfrm>
          <a:prstGeom prst="roundRect">
            <a:avLst>
              <a:gd name="adj" fmla="val 10811"/>
            </a:avLst>
          </a:prstGeom>
          <a:solidFill>
            <a:srgbClr val="F6F4EF"/>
          </a:solidFill>
          <a:ln w="9525">
            <a:solidFill>
              <a:srgbClr val="B5483F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95409" y="3940671"/>
            <a:ext cx="233172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 ceiling ~47%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13307764" y="4594473"/>
            <a:ext cx="228600" cy="228600"/>
          </a:xfrm>
          <a:prstGeom prst="ellipse">
            <a:avLst/>
          </a:prstGeom>
          <a:solidFill>
            <a:srgbClr val="2C3E6B"/>
          </a:solidFill>
          <a:ln/>
          <a:effectLst>
            <a:outerShdw sx="100000" sy="100000" kx="0" ky="0" algn="bl" rotWithShape="0" blurRad="101600" dist="50800" dir="16200000">
              <a:srgbClr val="2C3E6B">
                <a:alpha val="16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3057808" y="4918323"/>
            <a:ext cx="8047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PyEGo</a:t>
            </a:r>
            <a:endParaRPr lang="en-US" sz="1725" dirty="0"/>
          </a:p>
        </p:txBody>
      </p:sp>
      <p:sp>
        <p:nvSpPr>
          <p:cNvPr id="62" name="Shape 60"/>
          <p:cNvSpPr/>
          <p:nvPr/>
        </p:nvSpPr>
        <p:spPr>
          <a:xfrm>
            <a:off x="14838313" y="4169271"/>
            <a:ext cx="228600" cy="228600"/>
          </a:xfrm>
          <a:prstGeom prst="ellipse">
            <a:avLst/>
          </a:prstGeom>
          <a:solidFill>
            <a:srgbClr val="2C3E6B"/>
          </a:solidFill>
          <a:ln/>
          <a:effectLst>
            <a:outerShdw sx="100000" sy="100000" kx="0" ky="0" algn="bl" rotWithShape="0" blurRad="101600" dist="50800" dir="16200000">
              <a:srgbClr val="2C3E6B">
                <a:alpha val="1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4463564" y="4493121"/>
            <a:ext cx="1054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ReadPyE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15947231" y="3096667"/>
            <a:ext cx="247650" cy="247650"/>
          </a:xfrm>
          <a:prstGeom prst="ellipse">
            <a:avLst/>
          </a:prstGeom>
          <a:solidFill>
            <a:srgbClr val="2E7D5B"/>
          </a:solidFill>
          <a:ln/>
          <a:effectLst>
            <a:outerShdw sx="100000" sy="100000" kx="0" ky="0" algn="bl" rotWithShape="0" blurRad="101600" dist="50800" dir="16200000">
              <a:srgbClr val="2E7D5B">
                <a:alpha val="2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5744899" y="2839492"/>
            <a:ext cx="7285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790634" y="7839075"/>
            <a:ext cx="5792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2018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5856893" y="7839075"/>
            <a:ext cx="8201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 →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0901124" y="8401050"/>
            <a:ext cx="549402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KG-era chạm </a:t>
            </a:r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trần ~47% </a:t>
            </a:r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PLLM (LLM paradigm) phá vỡ lên </a:t>
            </a:r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~55%</a:t>
            </a:r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12462" y="2000250"/>
            <a:ext cx="9019327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3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4600" y="2762250"/>
            <a:ext cx="7239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21950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5254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PHẦN 02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7704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7834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7409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pháp nền tảng: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Memory-augmented retry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·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MEMRES: Lookup-First, LLM-Last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87686" y="3037731"/>
            <a:ext cx="9906000" cy="4554289"/>
          </a:xfrm>
          <a:prstGeom prst="roundRect">
            <a:avLst>
              <a:gd name="adj" fmla="val 1673"/>
            </a:avLst>
          </a:prstGeom>
          <a:ln w="28575">
            <a:solidFill>
              <a:srgbClr val="E0772B"/>
            </a:solidFill>
            <a:prstDash val="solid"/>
          </a:ln>
          <a:effectLst>
            <a:outerShdw sx="100000" sy="100000" kx="0" ky="0" algn="bl" rotWithShape="0" blurRad="24765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686" y="3037731"/>
            <a:ext cx="9906000" cy="4554289"/>
          </a:xfrm>
          <a:prstGeom prst="rect">
            <a:avLst/>
          </a:prstGeom>
        </p:spPr>
      </p:pic>
      <p:sp>
        <p:nvSpPr>
          <p:cNvPr id="7" name="Text 4">
            <a:hlinkClick r:id="rId4"/>
          </p:cNvPr>
          <p:cNvSpPr/>
          <p:nvPr/>
        </p:nvSpPr>
        <p:spPr>
          <a:xfrm>
            <a:off x="1490472" y="7644383"/>
            <a:ext cx="9601200" cy="3108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 u="none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Nguồn: https://arxiv.org/pdf/2604.16941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1771" y="7962900"/>
            <a:ext cx="121578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stage + 2 fast path; 2 memory store phản hồi vào pipeline.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2252722" y="2881313"/>
            <a:ext cx="5120878" cy="5305425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9525">
            <a:solidFill>
              <a:srgbClr val="16242A">
                <a:alpha val="12000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16242A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2262247" y="2890838"/>
            <a:ext cx="5101828" cy="47625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1" name="Text 8"/>
          <p:cNvSpPr/>
          <p:nvPr/>
        </p:nvSpPr>
        <p:spPr>
          <a:xfrm>
            <a:off x="12528947" y="3148013"/>
            <a:ext cx="50252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5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 rate </a:t>
            </a:r>
            <a:pPr algn="l" indent="0" marL="0">
              <a:buNone/>
            </a:pPr>
            <a:r>
              <a:rPr lang="en-US" sz="1875" spc="-15" kern="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(%)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12528947" y="7072313"/>
            <a:ext cx="4568428" cy="19050"/>
          </a:xfrm>
          <a:prstGeom prst="rect">
            <a:avLst/>
          </a:prstGeom>
          <a:solidFill>
            <a:srgbClr val="16242A">
              <a:alpha val="2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3250466" y="5281613"/>
            <a:ext cx="6424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44.8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266837" y="5624513"/>
            <a:ext cx="533400" cy="1447800"/>
          </a:xfrm>
          <a:prstGeom prst="roundRect">
            <a:avLst>
              <a:gd name="adj" fmla="val 8929"/>
            </a:avLst>
          </a:prstGeom>
          <a:solidFill>
            <a:srgbClr val="B5483F"/>
          </a:solidFill>
          <a:ln/>
        </p:spPr>
      </p:sp>
      <p:sp>
        <p:nvSpPr>
          <p:cNvPr id="15" name="Text 12"/>
          <p:cNvSpPr/>
          <p:nvPr/>
        </p:nvSpPr>
        <p:spPr>
          <a:xfrm>
            <a:off x="13969157" y="3938588"/>
            <a:ext cx="630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86.3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979575" y="4281488"/>
            <a:ext cx="533400" cy="2790825"/>
          </a:xfrm>
          <a:prstGeom prst="roundRect">
            <a:avLst>
              <a:gd name="adj" fmla="val 8929"/>
            </a:avLst>
          </a:prstGeom>
          <a:solidFill>
            <a:srgbClr val="2E7D5B"/>
          </a:solidFill>
          <a:ln/>
        </p:spPr>
      </p:sp>
      <p:sp>
        <p:nvSpPr>
          <p:cNvPr id="17" name="Text 14"/>
          <p:cNvSpPr/>
          <p:nvPr/>
        </p:nvSpPr>
        <p:spPr>
          <a:xfrm>
            <a:off x="15132993" y="4605338"/>
            <a:ext cx="6331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65.5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144750" y="4948238"/>
            <a:ext cx="533400" cy="2124075"/>
          </a:xfrm>
          <a:prstGeom prst="roundRect">
            <a:avLst>
              <a:gd name="adj" fmla="val 8929"/>
            </a:avLst>
          </a:prstGeom>
          <a:solidFill>
            <a:srgbClr val="B5483F"/>
          </a:solidFill>
          <a:ln/>
        </p:spPr>
      </p:sp>
      <p:sp>
        <p:nvSpPr>
          <p:cNvPr id="19" name="Text 16"/>
          <p:cNvSpPr/>
          <p:nvPr/>
        </p:nvSpPr>
        <p:spPr>
          <a:xfrm>
            <a:off x="15871627" y="4081463"/>
            <a:ext cx="5508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81.7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5842307" y="4424363"/>
            <a:ext cx="533400" cy="2647950"/>
          </a:xfrm>
          <a:prstGeom prst="roundRect">
            <a:avLst>
              <a:gd name="adj" fmla="val 8929"/>
            </a:avLst>
          </a:prstGeom>
          <a:solidFill>
            <a:srgbClr val="2E7D5B"/>
          </a:solidFill>
          <a:ln/>
        </p:spPr>
      </p:sp>
      <p:sp>
        <p:nvSpPr>
          <p:cNvPr id="21" name="Text 18"/>
          <p:cNvSpPr/>
          <p:nvPr/>
        </p:nvSpPr>
        <p:spPr>
          <a:xfrm>
            <a:off x="13068181" y="7205663"/>
            <a:ext cx="1508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HG2.9K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5049381" y="7205663"/>
            <a:ext cx="15087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GitCham.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3651260" y="7710487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B5483F"/>
          </a:solidFill>
          <a:ln/>
        </p:spPr>
      </p:sp>
      <p:sp>
        <p:nvSpPr>
          <p:cNvPr id="24" name="Text 21"/>
          <p:cNvSpPr/>
          <p:nvPr/>
        </p:nvSpPr>
        <p:spPr>
          <a:xfrm>
            <a:off x="13908435" y="7662863"/>
            <a:ext cx="6514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4788455" y="7710487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E7D5B"/>
          </a:solidFill>
          <a:ln/>
        </p:spPr>
      </p:sp>
      <p:sp>
        <p:nvSpPr>
          <p:cNvPr id="26" name="Text 23"/>
          <p:cNvSpPr/>
          <p:nvPr/>
        </p:nvSpPr>
        <p:spPr>
          <a:xfrm>
            <a:off x="15045630" y="7662863"/>
            <a:ext cx="10054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914400" y="9315450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" y="9477375"/>
            <a:ext cx="1695297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 = Memory-augmented retry: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cứu được nhiều lỗi, nhưng chưa biến thất bại thành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 logic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tỉa không gian.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 ·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MEMRES đến CGAR: Vá Đúng 3 Lỗ Hổng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31470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B5483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8725" y="359092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12.8% bí đường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28725" y="399097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removed / source-only, build kẹt 3 phút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82025" y="3681413"/>
            <a:ext cx="11239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667875" y="331470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2E7D5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2200" y="359092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Analyzer Agent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982200" y="399097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parse log → constraint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14400" y="481965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B5483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8725" y="509587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Chi phí lỗi cao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28725" y="549592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335s/snippet, ca khó vẫn rất chậm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582025" y="5186363"/>
            <a:ext cx="11239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667875" y="481965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2E7D5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82200" y="509587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wheel_filter()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982200" y="549592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thử bản có wheel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4400" y="632460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B5483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8725" y="660082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Không tỉa không gian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228725" y="700087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error = blackbox, không thành ràng buộc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582025" y="6691313"/>
            <a:ext cx="11239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67875" y="6324600"/>
            <a:ext cx="7705725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2E7D5B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2200" y="6600825"/>
            <a:ext cx="77847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3-tier constraints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982200" y="7000875"/>
            <a:ext cx="7784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/ SOFT / UPPER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14400" y="9296400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9458325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đoán mò </a:t>
            </a:r>
            <a:pPr algn="ctr" indent="0" marL="0">
              <a:buNone/>
            </a:pPr>
            <a:r>
              <a:rPr lang="en-US" sz="195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paradigm shift → </a:t>
            </a:r>
            <a:pPr algn="ctr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Multi-Agent + Constraint Acquisition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99353" y="2000250"/>
            <a:ext cx="9143747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3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2762250"/>
            <a:ext cx="6096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21950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5254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PHẦN 03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7704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7834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7409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Constraint-Guided Agentic Resolution: Multi-Agent + Constraint Acquisition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8608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904875"/>
            <a:ext cx="1860804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Tổng quan 3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667000" y="1876276"/>
            <a:ext cx="12954000" cy="7315349"/>
          </a:xfrm>
          <a:prstGeom prst="roundRect">
            <a:avLst>
              <a:gd name="adj" fmla="val 1562"/>
            </a:avLst>
          </a:prstGeom>
          <a:ln w="28575">
            <a:solidFill>
              <a:srgbClr val="E0772B"/>
            </a:solidFill>
            <a:prstDash val="solid"/>
          </a:ln>
          <a:effectLst>
            <a:outerShdw sx="100000" sy="100000" kx="0" ky="0" algn="bl" rotWithShape="0" blurRad="247650" dist="762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1876276"/>
            <a:ext cx="12954000" cy="7315349"/>
          </a:xfrm>
          <a:prstGeom prst="rect">
            <a:avLst/>
          </a:prstGeom>
        </p:spPr>
      </p:pic>
      <p:sp>
        <p:nvSpPr>
          <p:cNvPr id="7" name="Text 4">
            <a:hlinkClick r:id="rId4"/>
          </p:cNvPr>
          <p:cNvSpPr/>
          <p:nvPr/>
        </p:nvSpPr>
        <p:spPr>
          <a:xfrm>
            <a:off x="2670048" y="9226296"/>
            <a:ext cx="12618720" cy="3108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 u="none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Nguồn: https://chatgpt.com/share/6a2a3c91-5640-83ec-8761-25876b30abe3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-160020" y="9582150"/>
            <a:ext cx="186080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LLM agent (Planner / Analyzer / Critic) + Docker build loop: </a:t>
            </a:r>
            <a:pPr algn="ctr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tiết prompt ở phần Backup.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Multi-Agent Loop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847850"/>
            <a:ext cx="16184880" cy="6294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1560" y="2297430"/>
            <a:ext cx="3147060" cy="5035296"/>
          </a:xfrm>
          <a:prstGeom prst="roundRect">
            <a:avLst>
              <a:gd name="adj" fmla="val 5000"/>
            </a:avLst>
          </a:prstGeom>
          <a:solidFill>
            <a:srgbClr val="E0772B">
              <a:alpha val="5000"/>
            </a:srgbClr>
          </a:solidFill>
          <a:ln w="22479">
            <a:solidFill>
              <a:srgbClr val="E0772B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1366266" y="2612136"/>
            <a:ext cx="2769413" cy="420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13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Store</a:t>
            </a:r>
            <a:endParaRPr lang="en-US" sz="2213" dirty="0"/>
          </a:p>
        </p:txBody>
      </p:sp>
      <p:sp>
        <p:nvSpPr>
          <p:cNvPr id="7" name="Text 4"/>
          <p:cNvSpPr/>
          <p:nvPr/>
        </p:nvSpPr>
        <p:spPr>
          <a:xfrm>
            <a:off x="1366266" y="3589972"/>
            <a:ext cx="2769413" cy="341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58" spc="27" kern="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Constraints </a:t>
            </a:r>
            <a:pPr algn="l" indent="0" marL="0">
              <a:buNone/>
            </a:pPr>
            <a:r>
              <a:rPr lang="en-US" sz="1858" i="1" spc="27" kern="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858" dirty="0"/>
          </a:p>
        </p:txBody>
      </p:sp>
      <p:sp>
        <p:nvSpPr>
          <p:cNvPr id="8" name="Shape 5"/>
          <p:cNvSpPr/>
          <p:nvPr/>
        </p:nvSpPr>
        <p:spPr>
          <a:xfrm>
            <a:off x="1366266" y="4050792"/>
            <a:ext cx="2517648" cy="550736"/>
          </a:xfrm>
          <a:prstGeom prst="roundRect">
            <a:avLst>
              <a:gd name="adj" fmla="val 18367"/>
            </a:avLst>
          </a:prstGeom>
          <a:solidFill>
            <a:srgbClr val="B5483F">
              <a:alpha val="10000"/>
            </a:srgbClr>
          </a:solidFill>
          <a:ln w="11240">
            <a:solidFill>
              <a:srgbClr val="B5483F">
                <a:alpha val="2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34859" y="4264342"/>
            <a:ext cx="123635" cy="123635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0" name="Text 7"/>
          <p:cNvSpPr/>
          <p:nvPr/>
        </p:nvSpPr>
        <p:spPr>
          <a:xfrm>
            <a:off x="1782128" y="4163187"/>
            <a:ext cx="692265" cy="364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7" b="1" spc="44" kern="0" dirty="0">
                <a:solidFill>
                  <a:srgbClr val="8E3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</a:t>
            </a:r>
            <a:endParaRPr lang="en-US" sz="1947" dirty="0"/>
          </a:p>
        </p:txBody>
      </p:sp>
      <p:sp>
        <p:nvSpPr>
          <p:cNvPr id="11" name="Shape 8"/>
          <p:cNvSpPr/>
          <p:nvPr/>
        </p:nvSpPr>
        <p:spPr>
          <a:xfrm>
            <a:off x="1366266" y="4758880"/>
            <a:ext cx="2517648" cy="550735"/>
          </a:xfrm>
          <a:prstGeom prst="roundRect">
            <a:avLst>
              <a:gd name="adj" fmla="val 18367"/>
            </a:avLst>
          </a:prstGeom>
          <a:solidFill>
            <a:srgbClr val="B98A2E">
              <a:alpha val="12000"/>
            </a:srgbClr>
          </a:solidFill>
          <a:ln w="11240">
            <a:solidFill>
              <a:srgbClr val="B98A2E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34859" y="4972431"/>
            <a:ext cx="123635" cy="123635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3" name="Text 10"/>
          <p:cNvSpPr/>
          <p:nvPr/>
        </p:nvSpPr>
        <p:spPr>
          <a:xfrm>
            <a:off x="1782128" y="4871275"/>
            <a:ext cx="692265" cy="364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7" b="1" spc="44" kern="0" dirty="0">
                <a:solidFill>
                  <a:srgbClr val="8A6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SOFT</a:t>
            </a:r>
            <a:endParaRPr lang="en-US" sz="1947" dirty="0"/>
          </a:p>
        </p:txBody>
      </p:sp>
      <p:sp>
        <p:nvSpPr>
          <p:cNvPr id="14" name="Shape 11"/>
          <p:cNvSpPr/>
          <p:nvPr/>
        </p:nvSpPr>
        <p:spPr>
          <a:xfrm>
            <a:off x="1366266" y="5466969"/>
            <a:ext cx="2517648" cy="550736"/>
          </a:xfrm>
          <a:prstGeom prst="roundRect">
            <a:avLst>
              <a:gd name="adj" fmla="val 18367"/>
            </a:avLst>
          </a:prstGeom>
          <a:solidFill>
            <a:srgbClr val="2E7CA6">
              <a:alpha val="11000"/>
            </a:srgbClr>
          </a:solidFill>
          <a:ln w="11240">
            <a:solidFill>
              <a:srgbClr val="2E7CA6">
                <a:alpha val="3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34859" y="5680520"/>
            <a:ext cx="123635" cy="123634"/>
          </a:xfrm>
          <a:prstGeom prst="ellipse">
            <a:avLst/>
          </a:prstGeom>
          <a:solidFill>
            <a:srgbClr val="2E7CA6"/>
          </a:solidFill>
          <a:ln/>
        </p:spPr>
      </p:sp>
      <p:sp>
        <p:nvSpPr>
          <p:cNvPr id="16" name="Text 13"/>
          <p:cNvSpPr/>
          <p:nvPr/>
        </p:nvSpPr>
        <p:spPr>
          <a:xfrm>
            <a:off x="1782128" y="5579364"/>
            <a:ext cx="846106" cy="364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47" b="1" spc="44" kern="0" dirty="0">
                <a:solidFill>
                  <a:srgbClr val="2463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UPPER</a:t>
            </a:r>
            <a:endParaRPr lang="en-US" sz="1947" dirty="0"/>
          </a:p>
        </p:txBody>
      </p:sp>
      <p:sp>
        <p:nvSpPr>
          <p:cNvPr id="17" name="Shape 14"/>
          <p:cNvSpPr/>
          <p:nvPr/>
        </p:nvSpPr>
        <p:spPr>
          <a:xfrm>
            <a:off x="1366266" y="6613397"/>
            <a:ext cx="2517648" cy="11240"/>
          </a:xfrm>
          <a:prstGeom prst="rect">
            <a:avLst/>
          </a:prstGeom>
          <a:solidFill>
            <a:srgbClr val="E0772B">
              <a:alpha val="2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328166" y="6781990"/>
            <a:ext cx="259384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70" i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shared / repo</a:t>
            </a:r>
            <a:endParaRPr lang="en-US" sz="1770" dirty="0"/>
          </a:p>
        </p:txBody>
      </p:sp>
      <p:sp>
        <p:nvSpPr>
          <p:cNvPr id="19" name="Shape 16"/>
          <p:cNvSpPr/>
          <p:nvPr/>
        </p:nvSpPr>
        <p:spPr>
          <a:xfrm>
            <a:off x="5884545" y="2072640"/>
            <a:ext cx="3709035" cy="854202"/>
          </a:xfrm>
          <a:prstGeom prst="roundRect">
            <a:avLst>
              <a:gd name="adj" fmla="val 13158"/>
            </a:avLst>
          </a:prstGeom>
          <a:solidFill>
            <a:srgbClr val="23373B"/>
          </a:solidFill>
          <a:ln/>
        </p:spPr>
      </p:sp>
      <p:sp>
        <p:nvSpPr>
          <p:cNvPr id="20" name="Text 17"/>
          <p:cNvSpPr/>
          <p:nvPr/>
        </p:nvSpPr>
        <p:spPr>
          <a:xfrm>
            <a:off x="7000416" y="2179415"/>
            <a:ext cx="1625021" cy="40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1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Planner</a:t>
            </a:r>
            <a:endParaRPr lang="en-US" sz="2301" dirty="0"/>
          </a:p>
        </p:txBody>
      </p:sp>
      <p:sp>
        <p:nvSpPr>
          <p:cNvPr id="21" name="Text 18"/>
          <p:cNvSpPr/>
          <p:nvPr/>
        </p:nvSpPr>
        <p:spPr>
          <a:xfrm>
            <a:off x="7514624" y="2550319"/>
            <a:ext cx="524902" cy="307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FFFFF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1681" dirty="0"/>
          </a:p>
        </p:txBody>
      </p:sp>
      <p:sp>
        <p:nvSpPr>
          <p:cNvPr id="22" name="Shape 19"/>
          <p:cNvSpPr/>
          <p:nvPr/>
        </p:nvSpPr>
        <p:spPr>
          <a:xfrm>
            <a:off x="5884545" y="3533775"/>
            <a:ext cx="3709035" cy="854202"/>
          </a:xfrm>
          <a:prstGeom prst="roundRect">
            <a:avLst>
              <a:gd name="adj" fmla="val 13158"/>
            </a:avLst>
          </a:prstGeom>
          <a:solidFill>
            <a:srgbClr val="E0772B"/>
          </a:solidFill>
          <a:ln/>
        </p:spPr>
      </p:sp>
      <p:sp>
        <p:nvSpPr>
          <p:cNvPr id="23" name="Text 20"/>
          <p:cNvSpPr/>
          <p:nvPr/>
        </p:nvSpPr>
        <p:spPr>
          <a:xfrm>
            <a:off x="6863786" y="3640550"/>
            <a:ext cx="1925608" cy="40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1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Executor</a:t>
            </a:r>
            <a:endParaRPr lang="en-US" sz="2301" dirty="0"/>
          </a:p>
        </p:txBody>
      </p:sp>
      <p:sp>
        <p:nvSpPr>
          <p:cNvPr id="24" name="Text 21"/>
          <p:cNvSpPr/>
          <p:nvPr/>
        </p:nvSpPr>
        <p:spPr>
          <a:xfrm>
            <a:off x="7515326" y="4011454"/>
            <a:ext cx="523497" cy="307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Tool</a:t>
            </a:r>
            <a:endParaRPr lang="en-US" sz="1681" dirty="0"/>
          </a:p>
        </p:txBody>
      </p:sp>
      <p:sp>
        <p:nvSpPr>
          <p:cNvPr id="25" name="Shape 22"/>
          <p:cNvSpPr/>
          <p:nvPr/>
        </p:nvSpPr>
        <p:spPr>
          <a:xfrm>
            <a:off x="6615113" y="4994910"/>
            <a:ext cx="2247900" cy="6294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240">
            <a:solidFill>
              <a:srgbClr val="16242A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8252" y="5006150"/>
            <a:ext cx="2301621" cy="6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03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OK?</a:t>
            </a:r>
            <a:endParaRPr lang="en-US" sz="2035" dirty="0"/>
          </a:p>
        </p:txBody>
      </p:sp>
      <p:sp>
        <p:nvSpPr>
          <p:cNvPr id="27" name="Shape 24"/>
          <p:cNvSpPr/>
          <p:nvPr/>
        </p:nvSpPr>
        <p:spPr>
          <a:xfrm>
            <a:off x="10897362" y="5017389"/>
            <a:ext cx="2247900" cy="584454"/>
          </a:xfrm>
          <a:prstGeom prst="roundRect">
            <a:avLst>
              <a:gd name="adj" fmla="val 19231"/>
            </a:avLst>
          </a:prstGeom>
          <a:solidFill>
            <a:srgbClr val="2E7D5B">
              <a:alpha val="12000"/>
            </a:srgbClr>
          </a:solidFill>
          <a:ln w="22479">
            <a:solidFill>
              <a:srgbClr val="2E7D5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81741" y="5039868"/>
            <a:ext cx="2279142" cy="577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24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Done</a:t>
            </a:r>
            <a:endParaRPr lang="en-US" sz="2124" dirty="0"/>
          </a:p>
        </p:txBody>
      </p:sp>
      <p:sp>
        <p:nvSpPr>
          <p:cNvPr id="29" name="Shape 26"/>
          <p:cNvSpPr/>
          <p:nvPr/>
        </p:nvSpPr>
        <p:spPr>
          <a:xfrm>
            <a:off x="5884545" y="6006465"/>
            <a:ext cx="3709035" cy="854202"/>
          </a:xfrm>
          <a:prstGeom prst="roundRect">
            <a:avLst>
              <a:gd name="adj" fmla="val 13158"/>
            </a:avLst>
          </a:prstGeom>
          <a:solidFill>
            <a:srgbClr val="23373B"/>
          </a:solidFill>
          <a:ln/>
        </p:spPr>
      </p:sp>
      <p:sp>
        <p:nvSpPr>
          <p:cNvPr id="30" name="Text 27"/>
          <p:cNvSpPr/>
          <p:nvPr/>
        </p:nvSpPr>
        <p:spPr>
          <a:xfrm>
            <a:off x="6874499" y="6113240"/>
            <a:ext cx="1901847" cy="40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1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Analyzer</a:t>
            </a:r>
            <a:endParaRPr lang="en-US" sz="2301" dirty="0"/>
          </a:p>
        </p:txBody>
      </p:sp>
      <p:sp>
        <p:nvSpPr>
          <p:cNvPr id="31" name="Text 28"/>
          <p:cNvSpPr/>
          <p:nvPr/>
        </p:nvSpPr>
        <p:spPr>
          <a:xfrm>
            <a:off x="7514624" y="6484144"/>
            <a:ext cx="524902" cy="307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FFFFF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1681" dirty="0"/>
          </a:p>
        </p:txBody>
      </p:sp>
      <p:sp>
        <p:nvSpPr>
          <p:cNvPr id="32" name="Shape 29"/>
          <p:cNvSpPr/>
          <p:nvPr/>
        </p:nvSpPr>
        <p:spPr>
          <a:xfrm>
            <a:off x="5884545" y="7242810"/>
            <a:ext cx="3709035" cy="854202"/>
          </a:xfrm>
          <a:prstGeom prst="roundRect">
            <a:avLst>
              <a:gd name="adj" fmla="val 13158"/>
            </a:avLst>
          </a:prstGeom>
          <a:solidFill>
            <a:srgbClr val="23373B"/>
          </a:solidFill>
          <a:ln/>
        </p:spPr>
      </p:sp>
      <p:sp>
        <p:nvSpPr>
          <p:cNvPr id="33" name="Text 30"/>
          <p:cNvSpPr/>
          <p:nvPr/>
        </p:nvSpPr>
        <p:spPr>
          <a:xfrm>
            <a:off x="7100869" y="7349585"/>
            <a:ext cx="1403831" cy="40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01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· Critic</a:t>
            </a:r>
            <a:endParaRPr lang="en-US" sz="2301" dirty="0"/>
          </a:p>
        </p:txBody>
      </p:sp>
      <p:sp>
        <p:nvSpPr>
          <p:cNvPr id="34" name="Text 31"/>
          <p:cNvSpPr/>
          <p:nvPr/>
        </p:nvSpPr>
        <p:spPr>
          <a:xfrm>
            <a:off x="7514624" y="7720489"/>
            <a:ext cx="524902" cy="307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FFFFFF">
                    <a:alpha val="7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1681" dirty="0"/>
          </a:p>
        </p:txBody>
      </p:sp>
      <p:sp>
        <p:nvSpPr>
          <p:cNvPr id="35" name="Text 32"/>
          <p:cNvSpPr/>
          <p:nvPr/>
        </p:nvSpPr>
        <p:spPr>
          <a:xfrm>
            <a:off x="10043159" y="2185035"/>
            <a:ext cx="4028687" cy="71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query_pypi() · wheel_filter() </a:t>
            </a:r>
            <a:pPr algn="l" indent="0" marL="0">
              <a:lnSpc>
                <a:spcPct val="150000"/>
              </a:lnSpc>
              <a:buNone/>
            </a:pPr>
            <a:r>
              <a:rPr lang="en-US" sz="1770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consult_llm() </a:t>
            </a:r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solve()</a:t>
            </a:r>
            <a:endParaRPr lang="en-US" sz="1770" dirty="0"/>
          </a:p>
        </p:txBody>
      </p:sp>
      <p:sp>
        <p:nvSpPr>
          <p:cNvPr id="36" name="Text 33"/>
          <p:cNvSpPr/>
          <p:nvPr/>
        </p:nvSpPr>
        <p:spPr>
          <a:xfrm>
            <a:off x="10043159" y="3668649"/>
            <a:ext cx="1964437" cy="71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build_docker() run_import()</a:t>
            </a:r>
            <a:endParaRPr lang="en-US" sz="1770" dirty="0"/>
          </a:p>
        </p:txBody>
      </p:sp>
      <p:sp>
        <p:nvSpPr>
          <p:cNvPr id="37" name="Text 34"/>
          <p:cNvSpPr/>
          <p:nvPr/>
        </p:nvSpPr>
        <p:spPr>
          <a:xfrm>
            <a:off x="10043159" y="6096381"/>
            <a:ext cx="4028687" cy="71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parse_error() · </a:t>
            </a:r>
            <a:pPr algn="l" indent="0" marL="0">
              <a:lnSpc>
                <a:spcPct val="150000"/>
              </a:lnSpc>
              <a:buNone/>
            </a:pPr>
            <a:r>
              <a:rPr lang="en-US" sz="1770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consult_llm() </a:t>
            </a:r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gen_constraint()</a:t>
            </a:r>
            <a:endParaRPr lang="en-US" sz="1770" dirty="0"/>
          </a:p>
        </p:txBody>
      </p:sp>
      <p:sp>
        <p:nvSpPr>
          <p:cNvPr id="38" name="Text 35"/>
          <p:cNvSpPr/>
          <p:nvPr/>
        </p:nvSpPr>
        <p:spPr>
          <a:xfrm>
            <a:off x="10043159" y="7332726"/>
            <a:ext cx="4723288" cy="712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analyze_failures() · </a:t>
            </a:r>
            <a:pPr algn="l" indent="0" marL="0">
              <a:lnSpc>
                <a:spcPct val="150000"/>
              </a:lnSpc>
              <a:buNone/>
            </a:pPr>
            <a:r>
              <a:rPr lang="en-US" sz="1770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consult_llm() </a:t>
            </a:r>
            <a:pPr algn="l" indent="0" marL="0">
              <a:lnSpc>
                <a:spcPct val="150000"/>
              </a:lnSpc>
              <a:buNone/>
            </a:pPr>
            <a:r>
              <a:rPr lang="en-US" sz="177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suggest_strategy()</a:t>
            </a:r>
            <a:endParaRPr lang="en-US" sz="1770" dirty="0"/>
          </a:p>
        </p:txBody>
      </p:sp>
      <p:sp>
        <p:nvSpPr>
          <p:cNvPr id="39" name="Shape 36"/>
          <p:cNvSpPr/>
          <p:nvPr/>
        </p:nvSpPr>
        <p:spPr>
          <a:xfrm>
            <a:off x="4850511" y="2050161"/>
            <a:ext cx="933932" cy="280987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0" name="Text 37"/>
          <p:cNvSpPr/>
          <p:nvPr/>
        </p:nvSpPr>
        <p:spPr>
          <a:xfrm>
            <a:off x="4929188" y="2050161"/>
            <a:ext cx="869972" cy="319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70" b="1" dirty="0">
                <a:solidFill>
                  <a:srgbClr val="E0772B"/>
                </a:solidFill>
                <a:highlight>
                  <a:srgbClr val="F6F4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filter </a:t>
            </a:r>
            <a:pPr algn="l" indent="0" marL="0">
              <a:buNone/>
            </a:pPr>
            <a:r>
              <a:rPr lang="en-US" sz="1770" b="1" i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</a:t>
            </a:r>
            <a:endParaRPr lang="en-US" sz="1770" dirty="0"/>
          </a:p>
        </p:txBody>
      </p:sp>
      <p:sp>
        <p:nvSpPr>
          <p:cNvPr id="41" name="Shape 38"/>
          <p:cNvSpPr/>
          <p:nvPr/>
        </p:nvSpPr>
        <p:spPr>
          <a:xfrm>
            <a:off x="4917948" y="6141339"/>
            <a:ext cx="832776" cy="280988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2" name="Text 39"/>
          <p:cNvSpPr/>
          <p:nvPr/>
        </p:nvSpPr>
        <p:spPr>
          <a:xfrm>
            <a:off x="4996625" y="6141339"/>
            <a:ext cx="7587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70" b="1" dirty="0">
                <a:solidFill>
                  <a:srgbClr val="E0772B"/>
                </a:solidFill>
                <a:highlight>
                  <a:srgbClr val="F6F4E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add </a:t>
            </a:r>
            <a:pPr algn="l" indent="0" marL="0">
              <a:buNone/>
            </a:pPr>
            <a:r>
              <a:rPr lang="en-US" sz="1770" b="1" i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endParaRPr lang="en-US" sz="1770" dirty="0"/>
          </a:p>
        </p:txBody>
      </p:sp>
      <p:sp>
        <p:nvSpPr>
          <p:cNvPr id="43" name="Text 40"/>
          <p:cNvSpPr/>
          <p:nvPr/>
        </p:nvSpPr>
        <p:spPr>
          <a:xfrm>
            <a:off x="16112490" y="5017389"/>
            <a:ext cx="662761" cy="341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58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retry</a:t>
            </a:r>
            <a:endParaRPr lang="en-US" sz="1858" dirty="0"/>
          </a:p>
        </p:txBody>
      </p:sp>
      <p:sp>
        <p:nvSpPr>
          <p:cNvPr id="44" name="Shape 41"/>
          <p:cNvSpPr/>
          <p:nvPr/>
        </p:nvSpPr>
        <p:spPr>
          <a:xfrm>
            <a:off x="9054084" y="5062347"/>
            <a:ext cx="465912" cy="269748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5" name="Text 42"/>
          <p:cNvSpPr/>
          <p:nvPr/>
        </p:nvSpPr>
        <p:spPr>
          <a:xfrm>
            <a:off x="9110281" y="5062347"/>
            <a:ext cx="400108" cy="3078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yes</a:t>
            </a:r>
            <a:endParaRPr lang="en-US" sz="1681" dirty="0"/>
          </a:p>
        </p:txBody>
      </p:sp>
      <p:sp>
        <p:nvSpPr>
          <p:cNvPr id="46" name="Shape 43"/>
          <p:cNvSpPr/>
          <p:nvPr/>
        </p:nvSpPr>
        <p:spPr>
          <a:xfrm>
            <a:off x="7862697" y="5714238"/>
            <a:ext cx="371958" cy="269748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7" name="Text 44"/>
          <p:cNvSpPr/>
          <p:nvPr/>
        </p:nvSpPr>
        <p:spPr>
          <a:xfrm>
            <a:off x="7918894" y="5714238"/>
            <a:ext cx="296758" cy="30784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</a:t>
            </a:r>
            <a:endParaRPr lang="en-US" sz="1681" dirty="0"/>
          </a:p>
        </p:txBody>
      </p:sp>
      <p:sp>
        <p:nvSpPr>
          <p:cNvPr id="48" name="Shape 45"/>
          <p:cNvSpPr/>
          <p:nvPr/>
        </p:nvSpPr>
        <p:spPr>
          <a:xfrm>
            <a:off x="7862697" y="6950583"/>
            <a:ext cx="802922" cy="269748"/>
          </a:xfrm>
          <a:prstGeom prst="rect">
            <a:avLst/>
          </a:prstGeom>
          <a:solidFill>
            <a:srgbClr val="F6F4EF"/>
          </a:solidFill>
          <a:ln/>
        </p:spPr>
      </p:sp>
      <p:sp>
        <p:nvSpPr>
          <p:cNvPr id="49" name="Text 46"/>
          <p:cNvSpPr/>
          <p:nvPr/>
        </p:nvSpPr>
        <p:spPr>
          <a:xfrm>
            <a:off x="7918894" y="6950583"/>
            <a:ext cx="770819" cy="307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stuck?</a:t>
            </a:r>
            <a:endParaRPr lang="en-US" sz="1681" dirty="0"/>
          </a:p>
        </p:txBody>
      </p:sp>
      <p:sp>
        <p:nvSpPr>
          <p:cNvPr id="50" name="Shape 47"/>
          <p:cNvSpPr/>
          <p:nvPr/>
        </p:nvSpPr>
        <p:spPr>
          <a:xfrm>
            <a:off x="914400" y="9382125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667512" y="9525000"/>
            <a:ext cx="16952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thất bại không phí: mỗi fail →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+1 constraint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Planner kế tiếp né cả vùng, điều MEMRES không có.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Miền giá trị D đến từ đâu? (lọc trực tuyến từ PyPI)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3476625"/>
            <a:ext cx="92411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LỌC: 5 BƯỚC · 0 LLM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095375" y="4371975"/>
            <a:ext cx="19050" cy="2914650"/>
          </a:xfrm>
          <a:prstGeom prst="rect">
            <a:avLst/>
          </a:prstGeom>
          <a:solidFill>
            <a:srgbClr val="16242A">
              <a:alpha val="16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4048125"/>
            <a:ext cx="361950" cy="361950"/>
          </a:xfrm>
          <a:prstGeom prst="ellipse">
            <a:avLst/>
          </a:prstGeom>
          <a:solidFill>
            <a:srgbClr val="23373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76300" y="40481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428750" y="4062412"/>
            <a:ext cx="62087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scipy, numpy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target Python π=3.7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400" y="4848225"/>
            <a:ext cx="361950" cy="361950"/>
          </a:xfrm>
          <a:prstGeom prst="ellipse">
            <a:avLst/>
          </a:prstGeom>
          <a:solidFill>
            <a:srgbClr val="2337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6300" y="48482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28750" y="4862513"/>
            <a:ext cx="62390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import → pip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(static map):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scipy.misc→scipy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648325"/>
            <a:ext cx="361950" cy="361950"/>
          </a:xfrm>
          <a:prstGeom prst="ellipse">
            <a:avLst/>
          </a:prstGeom>
          <a:solidFill>
            <a:srgbClr val="B5483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6300" y="56483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428750" y="5662613"/>
            <a:ext cx="71328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pypi.org/pypi/&lt;pkg&gt;/json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</a:t>
            </a:r>
            <a:pPr algn="l" indent="0" marL="0">
              <a:buNone/>
            </a:pPr>
            <a:r>
              <a:rPr lang="en-US" sz="19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HTTP, không LLM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6448425"/>
            <a:ext cx="361950" cy="361950"/>
          </a:xfrm>
          <a:prstGeom prst="ellipse">
            <a:avLst/>
          </a:prstGeom>
          <a:solidFill>
            <a:srgbClr val="2E7C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6300" y="64484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428750" y="6462713"/>
            <a:ext cx="73440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version: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requires_python ⊨ π ∧ has_wheel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7248525"/>
            <a:ext cx="361950" cy="361950"/>
          </a:xfrm>
          <a:prstGeom prst="ellipse">
            <a:avLst/>
          </a:prstGeom>
          <a:solidFill>
            <a:srgbClr val="2E7CA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6300" y="724852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428750" y="7272338"/>
            <a:ext cx="57667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wheel-first, semver↓ → lấy </a:t>
            </a:r>
            <a:pPr algn="l" indent="0" marL="0">
              <a:buNone/>
            </a:pPr>
            <a:r>
              <a:rPr lang="en-US" sz="19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top-8 </a:t>
            </a:r>
            <a:pPr algn="l" indent="0" marL="0">
              <a:buNone/>
            </a:pPr>
            <a:r>
              <a:rPr lang="en-US" sz="19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 gói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772650" y="2825353"/>
            <a:ext cx="7600950" cy="2616994"/>
          </a:xfrm>
          <a:prstGeom prst="roundRect">
            <a:avLst>
              <a:gd name="adj" fmla="val 4368"/>
            </a:avLst>
          </a:prstGeom>
          <a:solidFill>
            <a:srgbClr val="16242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134600" y="3149203"/>
            <a:ext cx="7083362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b="1" dirty="0">
                <a:solidFill>
                  <a:srgbClr val="8BA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PyPI JSON (rút gọn)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134600" y="3670102"/>
            <a:ext cx="7083362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E6EA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1.7.3 → req_py≥3.7, wheel </a:t>
            </a:r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134600" y="4152900"/>
            <a:ext cx="7083362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E6EA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1.2.3 → req_py≥2.7, wheel </a:t>
            </a:r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134600" y="4635698"/>
            <a:ext cx="7083362" cy="52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9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 ~60 bản phát hành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772650" y="5766197"/>
            <a:ext cx="760095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2E7CA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44125" y="6099572"/>
            <a:ext cx="7543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 D (đầu vào solver)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144125" y="6585347"/>
            <a:ext cx="7063740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95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D(scipy)=[1.7.3, 1.7.2, …] ·8 D(numpy)=[1.21.6, 1.21.5, …] ·8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144125" y="7623572"/>
            <a:ext cx="7543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≈10⁷ toàn cục → ≤8 ứng viên / gói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14400" y="9401175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9544050"/>
            <a:ext cx="16952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 = top-8 ứng viên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wheel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hợp π, lọc từ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PyPI trực tiếp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(reducer xác định, </a:t>
            </a:r>
            <a:pPr algn="ctr" indent="0" marL="0">
              <a:buNone/>
            </a:pPr>
            <a:r>
              <a:rPr lang="en-US" sz="187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 LLM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Tích lũy ràng buộc (ví dụ)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571875"/>
            <a:ext cx="458152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6242A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475" y="3714750"/>
            <a:ext cx="42808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scipy.misc import imread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14400" y="4900613"/>
            <a:ext cx="361950" cy="361950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49006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428750" y="4662488"/>
            <a:ext cx="186437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6242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725" y="4786313"/>
            <a:ext cx="15786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scipy 1.7.3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45520" y="4914900"/>
            <a:ext cx="34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864620" y="4672013"/>
            <a:ext cx="1712119" cy="819150"/>
          </a:xfrm>
          <a:prstGeom prst="roundRect">
            <a:avLst>
              <a:gd name="adj" fmla="val 9302"/>
            </a:avLst>
          </a:prstGeom>
          <a:solidFill>
            <a:srgbClr val="2E7CA6">
              <a:alpha val="8000"/>
            </a:srgbClr>
          </a:solidFill>
          <a:ln w="9525">
            <a:solidFill>
              <a:srgbClr val="2E7C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6545" y="4795838"/>
            <a:ext cx="146446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29139" y="4914900"/>
            <a:ext cx="34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148239" y="4657725"/>
            <a:ext cx="5091708" cy="847725"/>
          </a:xfrm>
          <a:prstGeom prst="roundRect">
            <a:avLst>
              <a:gd name="adj" fmla="val 8989"/>
            </a:avLst>
          </a:prstGeom>
          <a:solidFill>
            <a:srgbClr val="B5483F">
              <a:alpha val="10000"/>
            </a:srgbClr>
          </a:solidFill>
          <a:ln w="9525">
            <a:solidFill>
              <a:srgbClr val="B5483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0164" y="4781550"/>
            <a:ext cx="492060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5483F"/>
                </a:solidFill>
                <a:highlight>
                  <a:srgbClr val="F8EDEC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 ImportError: cannot import name </a:t>
            </a:r>
            <a:pPr algn="l" indent="0" marL="0">
              <a:buNone/>
            </a:pPr>
            <a:r>
              <a:rPr lang="en-US" sz="1800" dirty="0">
                <a:solidFill>
                  <a:srgbClr val="B548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imread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28750" y="6076950"/>
            <a:ext cx="202461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↳ Analyzer học: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421707" y="5981700"/>
            <a:ext cx="2764929" cy="514350"/>
          </a:xfrm>
          <a:prstGeom prst="roundRect">
            <a:avLst>
              <a:gd name="adj" fmla="val 14815"/>
            </a:avLst>
          </a:prstGeom>
          <a:solidFill>
            <a:srgbClr val="2E7CA6">
              <a:alpha val="12000"/>
            </a:srgbClr>
          </a:solidFill>
          <a:ln w="9525">
            <a:solidFill>
              <a:srgbClr val="2E7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02682" y="6086475"/>
            <a:ext cx="24859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scipy &lt; 1.3 [UPPER]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14400" y="7077075"/>
            <a:ext cx="361950" cy="36195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707707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428750" y="6986588"/>
            <a:ext cx="4722614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16242A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9725" y="7110413"/>
            <a:ext cx="45023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3373B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scipy 1.2.3 </a:t>
            </a:r>
            <a:pPr algn="l" indent="0" marL="0">
              <a:buNone/>
            </a:pPr>
            <a:r>
              <a:rPr lang="en-US" sz="142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(cao nhất &lt;1.3, có wheel)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3764" y="7091363"/>
            <a:ext cx="34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722864" y="6991350"/>
            <a:ext cx="1717923" cy="533400"/>
          </a:xfrm>
          <a:prstGeom prst="roundRect">
            <a:avLst>
              <a:gd name="adj" fmla="val 14286"/>
            </a:avLst>
          </a:prstGeom>
          <a:solidFill>
            <a:srgbClr val="2E7CA6">
              <a:alpha val="8000"/>
            </a:srgbClr>
          </a:solidFill>
          <a:ln w="9525">
            <a:solidFill>
              <a:srgbClr val="2E7C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4789" y="7115175"/>
            <a:ext cx="14702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build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93187" y="7091363"/>
            <a:ext cx="34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012287" y="6972300"/>
            <a:ext cx="1613446" cy="571500"/>
          </a:xfrm>
          <a:prstGeom prst="roundRect">
            <a:avLst>
              <a:gd name="adj" fmla="val 13333"/>
            </a:avLst>
          </a:prstGeom>
          <a:solidFill>
            <a:srgbClr val="2E7D5B">
              <a:alpha val="12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93262" y="7096125"/>
            <a:ext cx="13276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 build OK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620946" y="4148137"/>
            <a:ext cx="5752654" cy="2819400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11471" y="5033963"/>
            <a:ext cx="4971604" cy="9525"/>
          </a:xfrm>
          <a:prstGeom prst="rect">
            <a:avLst/>
          </a:prstGeom>
          <a:solidFill>
            <a:srgbClr val="16242A">
              <a:alpha val="1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011471" y="4557713"/>
            <a:ext cx="51207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75" kern="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STORE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2011471" y="5314950"/>
            <a:ext cx="2259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294543" y="5310188"/>
            <a:ext cx="17287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scipy &lt; 1.3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3999518" y="5338763"/>
            <a:ext cx="952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(UPPER)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2011471" y="5900738"/>
            <a:ext cx="512075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 lũy + chia sẻ cho snippet sau trong cùng session.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914400" y="9382125"/>
            <a:ext cx="164592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" y="9525000"/>
            <a:ext cx="16952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build fail →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ràng buộc điển hình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solver thu hẹp miền, hội tụ đúng version mà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thử mù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Feedback-Guided Constraint Discovery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85950"/>
            <a:ext cx="843264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 thật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ẩn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chỉ lộ qua verifier hộp đen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f(A)→{pass, typed-error}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C₀=∅; mỗi lỗi = một counterexample → agent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 (Constraint Acquisition, kiểu CEGIS).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709095"/>
            <a:ext cx="8187035" cy="1329482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3947220"/>
            <a:ext cx="7880196" cy="8913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 state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pPr algn="l" indent="0" marL="0">
              <a:lnSpc>
                <a:spcPct val="150000"/>
              </a:lnSpc>
              <a:buNone/>
            </a:pPr>
            <a:r>
              <a:rPr lang="en-US" sz="1750" baseline="-400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⟨X, D, C</a:t>
            </a:r>
            <a:pPr algn="l" indent="0" marL="0">
              <a:lnSpc>
                <a:spcPct val="150000"/>
              </a:lnSpc>
              <a:buNone/>
            </a:pPr>
            <a:r>
              <a:rPr lang="en-US" sz="1750" baseline="-400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⟩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với C</a:t>
            </a:r>
            <a:pPr algn="l" indent="0" marL="0">
              <a:lnSpc>
                <a:spcPct val="150000"/>
              </a:lnSpc>
              <a:buNone/>
            </a:pPr>
            <a:r>
              <a:rPr lang="en-US" sz="1750" baseline="-400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C4C50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lớn dần.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X: package + Python π · D: ứng viên có wheel, hợp 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5661422"/>
            <a:ext cx="8432646" cy="49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được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pPr algn="l" indent="0" marL="0">
              <a:lnSpc>
                <a:spcPct val="150000"/>
              </a:lnSpc>
              <a:buNone/>
            </a:pPr>
            <a:r>
              <a:rPr lang="en-US" sz="1750" b="1" baseline="-400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(từ counterexample):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267004"/>
            <a:ext cx="8187035" cy="728663"/>
          </a:xfrm>
          <a:prstGeom prst="rect">
            <a:avLst/>
          </a:prstGeom>
          <a:solidFill>
            <a:srgbClr val="B5483F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267004"/>
            <a:ext cx="47625" cy="728663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0" name="Text 8"/>
          <p:cNvSpPr/>
          <p:nvPr/>
        </p:nvSpPr>
        <p:spPr>
          <a:xfrm>
            <a:off x="1171575" y="6438454"/>
            <a:ext cx="796592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highlight>
                  <a:srgbClr val="FAF2F2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cấm vĩnh viễn version lỗi rõ ràng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7167116"/>
            <a:ext cx="8187035" cy="728663"/>
          </a:xfrm>
          <a:prstGeom prst="rect">
            <a:avLst/>
          </a:prstGeom>
          <a:solidFill>
            <a:srgbClr val="B98A2E">
              <a:alpha val="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7167116"/>
            <a:ext cx="47625" cy="728663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171575" y="7338566"/>
            <a:ext cx="796592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B98A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highlight>
                  <a:srgbClr val="F9F4EC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cấm tạm nếu lỗi ≥ 2 lần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14400" y="8067229"/>
            <a:ext cx="8187035" cy="728663"/>
          </a:xfrm>
          <a:prstGeom prst="rect">
            <a:avLst/>
          </a:prstGeom>
          <a:solidFill>
            <a:srgbClr val="2E7CA6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8067229"/>
            <a:ext cx="47625" cy="728663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16" name="Text 14"/>
          <p:cNvSpPr/>
          <p:nvPr/>
        </p:nvSpPr>
        <p:spPr>
          <a:xfrm>
            <a:off x="1171575" y="8238679"/>
            <a:ext cx="796592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UPPER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3C4C50"/>
                </a:solidFill>
                <a:highlight>
                  <a:srgbClr val="EEF5F8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vᵢ &lt; ub(Pᵢ), cấm cả khoảng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14400" y="9418886"/>
            <a:ext cx="8432646" cy="468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 lặp: chọn A⊨C</a:t>
            </a:r>
            <a:pPr algn="l" indent="0" marL="0">
              <a:lnSpc>
                <a:spcPct val="150000"/>
              </a:lnSpc>
              <a:buNone/>
            </a:pPr>
            <a:r>
              <a:rPr lang="en-US" sz="1688" baseline="-400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build → fail? </a:t>
            </a:r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pPr algn="l" indent="0" marL="0">
              <a:lnSpc>
                <a:spcPct val="150000"/>
              </a:lnSpc>
              <a:buNone/>
            </a:pPr>
            <a:r>
              <a:rPr lang="en-US" sz="1688" baseline="-400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t+1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re-solve (≤50).</a:t>
            </a:r>
            <a:endParaRPr lang="en-US" sz="20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46618" y="2634555"/>
            <a:ext cx="7239000" cy="59227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531980" y="8785920"/>
            <a:ext cx="786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/ SOFT / UPPER học từ build, tỉa cây → 1 path khả thi.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 ·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38225"/>
            <a:ext cx="1810512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CGAR: Session-scoped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" y="1752600"/>
            <a:ext cx="181051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 = 1 repository = nhiều snippets: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 buộc học được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sẻ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 các snippet trong cùng session.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667000" y="2357289"/>
            <a:ext cx="12954000" cy="7315349"/>
          </a:xfrm>
          <a:prstGeom prst="roundRect">
            <a:avLst>
              <a:gd name="adj" fmla="val 1562"/>
            </a:avLst>
          </a:prstGeom>
          <a:ln w="28575">
            <a:solidFill>
              <a:srgbClr val="E0772B"/>
            </a:solidFill>
            <a:prstDash val="solid"/>
          </a:ln>
          <a:effectLst>
            <a:outerShdw sx="100000" sy="100000" kx="0" ky="0" algn="bl" rotWithShape="0" blurRad="247650" dist="762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2357289"/>
            <a:ext cx="12954000" cy="7315349"/>
          </a:xfrm>
          <a:prstGeom prst="rect">
            <a:avLst/>
          </a:prstGeom>
        </p:spPr>
      </p:pic>
      <p:sp>
        <p:nvSpPr>
          <p:cNvPr id="8" name="Text 5">
            <a:hlinkClick r:id="rId4"/>
          </p:cNvPr>
          <p:cNvSpPr/>
          <p:nvPr/>
        </p:nvSpPr>
        <p:spPr>
          <a:xfrm>
            <a:off x="2670048" y="9710928"/>
            <a:ext cx="12618720" cy="3108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 u="none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Nguồn: https://chatgpt.com/share/6a2a3c8b-93f8-83ec-9452-052ef1ef7e87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72985" y="2000250"/>
            <a:ext cx="9392751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3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4600" y="2762250"/>
            <a:ext cx="7239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21950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95254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PHẦN 04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4247704"/>
            <a:ext cx="18105120" cy="119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914400" y="5767834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177409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 tổng thể · phân rã lỗi · tổng quát hóa · tốc độ &amp; ablation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KẾT QUẢ ·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Comprehensive Comparison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762000" y="3053358"/>
            <a:ext cx="3419921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95350" y="2672358"/>
            <a:ext cx="32558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81921" y="3053358"/>
            <a:ext cx="2080915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5271" y="2672358"/>
            <a:ext cx="18904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VENUE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62836" y="3053358"/>
            <a:ext cx="4213622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96186" y="2672358"/>
            <a:ext cx="4073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APPROACH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476458" y="3053358"/>
            <a:ext cx="1742480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533608" y="2672358"/>
            <a:ext cx="15519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HG2.9K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218938" y="3053358"/>
            <a:ext cx="2179737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276088" y="2672358"/>
            <a:ext cx="19892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GITCHAM.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4398675" y="3053358"/>
            <a:ext cx="1821359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455825" y="2672358"/>
            <a:ext cx="16308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6220033" y="3053358"/>
            <a:ext cx="1305967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6315283" y="2672358"/>
            <a:ext cx="11154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62000" y="362009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95350" y="3186708"/>
            <a:ext cx="325581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PyEGo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315271" y="3186708"/>
            <a:ext cx="18904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ICSE’22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396186" y="3186708"/>
            <a:ext cx="407333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 + Z3 SMT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533608" y="3186708"/>
            <a:ext cx="155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45.0%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276088" y="3186708"/>
            <a:ext cx="198923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455825" y="3186708"/>
            <a:ext cx="16308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5.8s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315283" y="3186708"/>
            <a:ext cx="11154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62000" y="41725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95350" y="3743920"/>
            <a:ext cx="3255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ReadPyE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315271" y="3743920"/>
            <a:ext cx="18904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TSE’24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396186" y="3743920"/>
            <a:ext cx="407333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KG + README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533608" y="3743920"/>
            <a:ext cx="15519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47.2%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276088" y="3743920"/>
            <a:ext cx="19892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4455825" y="3743920"/>
            <a:ext cx="16308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106.9s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6315283" y="3743920"/>
            <a:ext cx="11154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62000" y="4182070"/>
            <a:ext cx="16764000" cy="57150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47440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" y="42963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GPT-4o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4315271" y="42963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2024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6396186" y="42963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LLM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0533608" y="42963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276088" y="42963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49.1%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4455825" y="42963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6315283" y="42963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762000" y="4753570"/>
            <a:ext cx="16764000" cy="57150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2000" y="53155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95350" y="48678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o1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4315271" y="48678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2024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6396186" y="48678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(best)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0533608" y="48678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2276088" y="48678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51.2%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4455825" y="48678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6315283" y="48678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762000" y="5325070"/>
            <a:ext cx="16764000" cy="57150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" y="58870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95350" y="54393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GPT-4.1 + RAG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4315271" y="54393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2025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6396186" y="54393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+ RAG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0533608" y="54393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2276088" y="54393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58.5%</a:t>
            </a:r>
            <a:endParaRPr lang="en-US" sz="1950" dirty="0"/>
          </a:p>
        </p:txBody>
      </p:sp>
      <p:sp>
        <p:nvSpPr>
          <p:cNvPr id="59" name="Text 57"/>
          <p:cNvSpPr/>
          <p:nvPr/>
        </p:nvSpPr>
        <p:spPr>
          <a:xfrm>
            <a:off x="14455825" y="54393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60" name="Text 58"/>
          <p:cNvSpPr/>
          <p:nvPr/>
        </p:nvSpPr>
        <p:spPr>
          <a:xfrm>
            <a:off x="16315283" y="54393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762000" y="64585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95350" y="60108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1950" dirty="0"/>
          </a:p>
        </p:txBody>
      </p:sp>
      <p:sp>
        <p:nvSpPr>
          <p:cNvPr id="63" name="Text 61"/>
          <p:cNvSpPr/>
          <p:nvPr/>
        </p:nvSpPr>
        <p:spPr>
          <a:xfrm>
            <a:off x="4315271" y="60108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arXiv’25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6396186" y="60108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 + LLM iter.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10533608" y="60108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44.8%</a:t>
            </a:r>
            <a:endParaRPr lang="en-US" sz="1950" dirty="0"/>
          </a:p>
        </p:txBody>
      </p:sp>
      <p:sp>
        <p:nvSpPr>
          <p:cNvPr id="66" name="Text 64"/>
          <p:cNvSpPr/>
          <p:nvPr/>
        </p:nvSpPr>
        <p:spPr>
          <a:xfrm>
            <a:off x="12276088" y="60108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65.5%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14455825" y="60108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369.6s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6315283" y="60108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62000" y="70300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95350" y="65823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SMT-LLM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4315271" y="65823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FSE’26</a:t>
            </a:r>
            <a:endParaRPr lang="en-US" sz="1950" dirty="0"/>
          </a:p>
        </p:txBody>
      </p:sp>
      <p:sp>
        <p:nvSpPr>
          <p:cNvPr id="72" name="Text 70"/>
          <p:cNvSpPr/>
          <p:nvPr/>
        </p:nvSpPr>
        <p:spPr>
          <a:xfrm>
            <a:off x="6396186" y="65823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Z3 + LLM imput.</a:t>
            </a:r>
            <a:endParaRPr lang="en-US" sz="1950" dirty="0"/>
          </a:p>
        </p:txBody>
      </p:sp>
      <p:sp>
        <p:nvSpPr>
          <p:cNvPr id="73" name="Text 71"/>
          <p:cNvSpPr/>
          <p:nvPr/>
        </p:nvSpPr>
        <p:spPr>
          <a:xfrm>
            <a:off x="10533608" y="65823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83.6%</a:t>
            </a:r>
            <a:endParaRPr lang="en-US" sz="1950" dirty="0"/>
          </a:p>
        </p:txBody>
      </p:sp>
      <p:sp>
        <p:nvSpPr>
          <p:cNvPr id="74" name="Text 72"/>
          <p:cNvSpPr/>
          <p:nvPr/>
        </p:nvSpPr>
        <p:spPr>
          <a:xfrm>
            <a:off x="12276088" y="65823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9AA6A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14455825" y="65823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23.9s</a:t>
            </a:r>
            <a:endParaRPr lang="en-US" sz="1950" dirty="0"/>
          </a:p>
        </p:txBody>
      </p:sp>
      <p:sp>
        <p:nvSpPr>
          <p:cNvPr id="76" name="Text 74"/>
          <p:cNvSpPr/>
          <p:nvPr/>
        </p:nvSpPr>
        <p:spPr>
          <a:xfrm>
            <a:off x="16315283" y="65823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1950" dirty="0"/>
          </a:p>
        </p:txBody>
      </p:sp>
      <p:sp>
        <p:nvSpPr>
          <p:cNvPr id="77" name="Shape 75"/>
          <p:cNvSpPr/>
          <p:nvPr/>
        </p:nvSpPr>
        <p:spPr>
          <a:xfrm>
            <a:off x="762000" y="7601545"/>
            <a:ext cx="167640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895350" y="7153870"/>
            <a:ext cx="32558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1950" dirty="0"/>
          </a:p>
        </p:txBody>
      </p:sp>
      <p:sp>
        <p:nvSpPr>
          <p:cNvPr id="79" name="Text 77"/>
          <p:cNvSpPr/>
          <p:nvPr/>
        </p:nvSpPr>
        <p:spPr>
          <a:xfrm>
            <a:off x="4315271" y="7153870"/>
            <a:ext cx="18904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FSE’26</a:t>
            </a:r>
            <a:endParaRPr lang="en-US" sz="1950" dirty="0"/>
          </a:p>
        </p:txBody>
      </p:sp>
      <p:sp>
        <p:nvSpPr>
          <p:cNvPr id="80" name="Text 78"/>
          <p:cNvSpPr/>
          <p:nvPr/>
        </p:nvSpPr>
        <p:spPr>
          <a:xfrm>
            <a:off x="6396186" y="7153870"/>
            <a:ext cx="407333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 + Cascade</a:t>
            </a:r>
            <a:endParaRPr lang="en-US" sz="1950" dirty="0"/>
          </a:p>
        </p:txBody>
      </p:sp>
      <p:sp>
        <p:nvSpPr>
          <p:cNvPr id="81" name="Text 79"/>
          <p:cNvSpPr/>
          <p:nvPr/>
        </p:nvSpPr>
        <p:spPr>
          <a:xfrm>
            <a:off x="10533608" y="7153870"/>
            <a:ext cx="15519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86.3%</a:t>
            </a:r>
            <a:endParaRPr lang="en-US" sz="1950" dirty="0"/>
          </a:p>
        </p:txBody>
      </p:sp>
      <p:sp>
        <p:nvSpPr>
          <p:cNvPr id="82" name="Text 80"/>
          <p:cNvSpPr/>
          <p:nvPr/>
        </p:nvSpPr>
        <p:spPr>
          <a:xfrm>
            <a:off x="12276088" y="7153870"/>
            <a:ext cx="19892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81.7%</a:t>
            </a:r>
            <a:endParaRPr lang="en-US" sz="1950" dirty="0"/>
          </a:p>
        </p:txBody>
      </p:sp>
      <p:sp>
        <p:nvSpPr>
          <p:cNvPr id="83" name="Text 81"/>
          <p:cNvSpPr/>
          <p:nvPr/>
        </p:nvSpPr>
        <p:spPr>
          <a:xfrm>
            <a:off x="14455825" y="7153870"/>
            <a:ext cx="1630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335.3s</a:t>
            </a:r>
            <a:endParaRPr lang="en-US" sz="1950" dirty="0"/>
          </a:p>
        </p:txBody>
      </p:sp>
      <p:sp>
        <p:nvSpPr>
          <p:cNvPr id="84" name="Text 82"/>
          <p:cNvSpPr/>
          <p:nvPr/>
        </p:nvSpPr>
        <p:spPr>
          <a:xfrm>
            <a:off x="16315283" y="7153870"/>
            <a:ext cx="1115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1950" dirty="0"/>
          </a:p>
        </p:txBody>
      </p:sp>
      <p:sp>
        <p:nvSpPr>
          <p:cNvPr id="85" name="Shape 83"/>
          <p:cNvSpPr/>
          <p:nvPr/>
        </p:nvSpPr>
        <p:spPr>
          <a:xfrm>
            <a:off x="762000" y="7611070"/>
            <a:ext cx="16764000" cy="604838"/>
          </a:xfrm>
          <a:prstGeom prst="rect">
            <a:avLst/>
          </a:prstGeom>
          <a:solidFill>
            <a:srgbClr val="E0772B">
              <a:alpha val="16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895350" y="7744420"/>
            <a:ext cx="32558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 </a:t>
            </a:r>
            <a:pPr algn="l" indent="0" marL="0">
              <a:buNone/>
            </a:pPr>
            <a:r>
              <a:rPr lang="en-US" sz="15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(ours)</a:t>
            </a:r>
            <a:endParaRPr lang="en-US" sz="1950" dirty="0"/>
          </a:p>
        </p:txBody>
      </p:sp>
      <p:sp>
        <p:nvSpPr>
          <p:cNvPr id="87" name="Text 85"/>
          <p:cNvSpPr/>
          <p:nvPr/>
        </p:nvSpPr>
        <p:spPr>
          <a:xfrm>
            <a:off x="4315271" y="7744420"/>
            <a:ext cx="18904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1950" dirty="0"/>
          </a:p>
        </p:txBody>
      </p:sp>
      <p:sp>
        <p:nvSpPr>
          <p:cNvPr id="88" name="Text 86"/>
          <p:cNvSpPr/>
          <p:nvPr/>
        </p:nvSpPr>
        <p:spPr>
          <a:xfrm>
            <a:off x="6396186" y="7744420"/>
            <a:ext cx="407333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Multi-Agent + CA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10533608" y="7744420"/>
            <a:ext cx="155198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87.1%</a:t>
            </a:r>
            <a:endParaRPr lang="en-US" sz="1950" dirty="0"/>
          </a:p>
        </p:txBody>
      </p:sp>
      <p:sp>
        <p:nvSpPr>
          <p:cNvPr id="90" name="Text 88"/>
          <p:cNvSpPr/>
          <p:nvPr/>
        </p:nvSpPr>
        <p:spPr>
          <a:xfrm>
            <a:off x="12276088" y="7744420"/>
            <a:ext cx="19892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83.2%</a:t>
            </a:r>
            <a:endParaRPr lang="en-US" sz="1950" dirty="0"/>
          </a:p>
        </p:txBody>
      </p:sp>
      <p:sp>
        <p:nvSpPr>
          <p:cNvPr id="91" name="Text 89"/>
          <p:cNvSpPr/>
          <p:nvPr/>
        </p:nvSpPr>
        <p:spPr>
          <a:xfrm>
            <a:off x="14455825" y="7744420"/>
            <a:ext cx="163085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22.3s</a:t>
            </a:r>
            <a:endParaRPr lang="en-US" sz="1950" dirty="0"/>
          </a:p>
        </p:txBody>
      </p:sp>
      <p:sp>
        <p:nvSpPr>
          <p:cNvPr id="92" name="Text 90"/>
          <p:cNvSpPr/>
          <p:nvPr/>
        </p:nvSpPr>
        <p:spPr>
          <a:xfrm>
            <a:off x="16315283" y="7744420"/>
            <a:ext cx="11154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1950" dirty="0"/>
          </a:p>
        </p:txBody>
      </p:sp>
      <p:sp>
        <p:nvSpPr>
          <p:cNvPr id="93" name="Shape 91"/>
          <p:cNvSpPr/>
          <p:nvPr/>
        </p:nvSpPr>
        <p:spPr>
          <a:xfrm>
            <a:off x="762000" y="9145191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762000" y="9269016"/>
            <a:ext cx="17266920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 44.8% = reproduction single-run (paper headline 54.8% là 10-run union). </a:t>
            </a:r>
            <a:pPr algn="l" indent="0" marL="0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 avg mọi snippet trên HG2.9K. </a:t>
            </a:r>
            <a:pPr algn="l" indent="0" marL="0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Fairness: </a:t>
            </a:r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sách = ≤10 build × 180s ≈1800s/snippet, giống nhau mọi tool. CGAR chỉ cần ≤5 build → time thấp là do hội tụ nhanh, không phải budget khác.</a:t>
            </a:r>
            <a:endParaRPr lang="en-US" sz="15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KẾT QUẢ ·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HG2.9K: Error Breakdown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647825"/>
            <a:ext cx="29073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build fail theo loại lỗi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3633639" y="1652588"/>
            <a:ext cx="18594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 </a:t>
            </a:r>
            <a:pPr algn="l" indent="0" marL="0">
              <a:buNone/>
            </a:pPr>
            <a:r>
              <a:rPr lang="en-US" sz="165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■ </a:t>
            </a:r>
            <a:pPr algn="l" indent="0" marL="0">
              <a:buNone/>
            </a:pPr>
            <a:r>
              <a:rPr lang="en-US" sz="16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9134475"/>
            <a:ext cx="9241631" cy="19050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1037" y="2794695"/>
            <a:ext cx="285750" cy="582543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8" name="Text 6"/>
          <p:cNvSpPr/>
          <p:nvPr/>
        </p:nvSpPr>
        <p:spPr>
          <a:xfrm>
            <a:off x="1090017" y="2547045"/>
            <a:ext cx="4839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494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84412" y="8554045"/>
            <a:ext cx="285750" cy="66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19983" y="5310188"/>
            <a:ext cx="285750" cy="3309938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1" name="Text 9"/>
          <p:cNvSpPr/>
          <p:nvPr/>
        </p:nvSpPr>
        <p:spPr>
          <a:xfrm>
            <a:off x="2672730" y="5062538"/>
            <a:ext cx="45645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282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53358" y="8554045"/>
            <a:ext cx="285750" cy="66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8780" y="3522911"/>
            <a:ext cx="285750" cy="5097214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/>
          <p:nvPr/>
        </p:nvSpPr>
        <p:spPr>
          <a:xfrm>
            <a:off x="4233490" y="3275261"/>
            <a:ext cx="4725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433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2155" y="4251127"/>
            <a:ext cx="285750" cy="436899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4580781" y="4003477"/>
            <a:ext cx="4446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372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7726" y="6038404"/>
            <a:ext cx="285750" cy="2581721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8" name="Text 16"/>
          <p:cNvSpPr/>
          <p:nvPr/>
        </p:nvSpPr>
        <p:spPr>
          <a:xfrm>
            <a:off x="5833021" y="5790754"/>
            <a:ext cx="4113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221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1101" y="8554045"/>
            <a:ext cx="285750" cy="66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26523" y="7627144"/>
            <a:ext cx="285750" cy="992981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21" name="Text 19"/>
          <p:cNvSpPr/>
          <p:nvPr/>
        </p:nvSpPr>
        <p:spPr>
          <a:xfrm>
            <a:off x="7440960" y="7379494"/>
            <a:ext cx="333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59898" y="8554045"/>
            <a:ext cx="285750" cy="66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5321" y="7627144"/>
            <a:ext cx="285750" cy="992981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24" name="Text 22"/>
          <p:cNvSpPr/>
          <p:nvPr/>
        </p:nvSpPr>
        <p:spPr>
          <a:xfrm>
            <a:off x="9009757" y="7379494"/>
            <a:ext cx="3330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28696" y="8554045"/>
            <a:ext cx="285750" cy="66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692133" y="9229725"/>
            <a:ext cx="15370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SyntaxErr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60922" y="9229725"/>
            <a:ext cx="15372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NoMatchDist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29876" y="9229725"/>
            <a:ext cx="15370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ImportErr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98666" y="9229725"/>
            <a:ext cx="153724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Other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67619" y="9229725"/>
            <a:ext cx="15370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NoWheel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36417" y="9229725"/>
            <a:ext cx="15370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AttrErr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2000" y="9582150"/>
            <a:ext cx="101657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Total fails: PLLM </a:t>
            </a:r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1596 </a:t>
            </a:r>
            <a:pPr algn="l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CGAR </a:t>
            </a:r>
            <a:pPr algn="l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373 Δ −76.6%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384631" y="1647825"/>
            <a:ext cx="78555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Rescue rate theo loại lỗi của PLLM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0194131" y="4452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NameError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2403931" y="4457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2403931" y="4457700"/>
            <a:ext cx="4266158" cy="24765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0" y="4452938"/>
            <a:ext cx="685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97.1%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0194131" y="4833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InvalidRequirement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12403931" y="4838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2403931" y="4838700"/>
            <a:ext cx="4134148" cy="24765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/>
        </p:spPr>
      </p:sp>
      <p:sp>
        <p:nvSpPr>
          <p:cNvPr id="41" name="Text 39"/>
          <p:cNvSpPr/>
          <p:nvPr/>
        </p:nvSpPr>
        <p:spPr>
          <a:xfrm>
            <a:off x="16916400" y="4833938"/>
            <a:ext cx="685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94.1%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0194131" y="5214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OtherFailure</a:t>
            </a:r>
            <a:endParaRPr lang="en-US" sz="1575" dirty="0"/>
          </a:p>
        </p:txBody>
      </p:sp>
      <p:sp>
        <p:nvSpPr>
          <p:cNvPr id="43" name="Shape 41"/>
          <p:cNvSpPr/>
          <p:nvPr/>
        </p:nvSpPr>
        <p:spPr>
          <a:xfrm>
            <a:off x="12403931" y="5219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2403931" y="5219700"/>
            <a:ext cx="4002286" cy="247650"/>
          </a:xfrm>
          <a:prstGeom prst="roundRect">
            <a:avLst>
              <a:gd name="adj" fmla="val 15385"/>
            </a:avLst>
          </a:prstGeom>
          <a:solidFill>
            <a:srgbClr val="2E7D5B"/>
          </a:solidFill>
          <a:ln/>
        </p:spPr>
      </p:sp>
      <p:sp>
        <p:nvSpPr>
          <p:cNvPr id="45" name="Text 43"/>
          <p:cNvSpPr/>
          <p:nvPr/>
        </p:nvSpPr>
        <p:spPr>
          <a:xfrm>
            <a:off x="16916400" y="5214938"/>
            <a:ext cx="685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91.1%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10194131" y="5595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NoMatchingDist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12403931" y="5600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403931" y="5600700"/>
            <a:ext cx="3782318" cy="247650"/>
          </a:xfrm>
          <a:prstGeom prst="roundRect">
            <a:avLst>
              <a:gd name="adj" fmla="val 15385"/>
            </a:avLst>
          </a:prstGeom>
          <a:solidFill>
            <a:srgbClr val="5E9E7E"/>
          </a:solidFill>
          <a:ln/>
        </p:spPr>
      </p:sp>
      <p:sp>
        <p:nvSpPr>
          <p:cNvPr id="49" name="Text 47"/>
          <p:cNvSpPr/>
          <p:nvPr/>
        </p:nvSpPr>
        <p:spPr>
          <a:xfrm>
            <a:off x="16916400" y="5595938"/>
            <a:ext cx="68580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85.8%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0194131" y="5976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ImportError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2403931" y="5981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2403931" y="5981700"/>
            <a:ext cx="3650456" cy="247650"/>
          </a:xfrm>
          <a:prstGeom prst="roundRect">
            <a:avLst>
              <a:gd name="adj" fmla="val 15385"/>
            </a:avLst>
          </a:prstGeom>
          <a:solidFill>
            <a:srgbClr val="5E9E7E"/>
          </a:solidFill>
          <a:ln/>
        </p:spPr>
      </p:sp>
      <p:sp>
        <p:nvSpPr>
          <p:cNvPr id="53" name="Text 51"/>
          <p:cNvSpPr/>
          <p:nvPr/>
        </p:nvSpPr>
        <p:spPr>
          <a:xfrm>
            <a:off x="16916400" y="5976938"/>
            <a:ext cx="68580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82.9%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0194131" y="6357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SyntaxError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12403931" y="6362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403931" y="6362700"/>
            <a:ext cx="3254573" cy="247650"/>
          </a:xfrm>
          <a:prstGeom prst="roundRect">
            <a:avLst>
              <a:gd name="adj" fmla="val 15385"/>
            </a:avLst>
          </a:prstGeom>
          <a:solidFill>
            <a:srgbClr val="E0772B"/>
          </a:solidFill>
          <a:ln/>
        </p:spPr>
      </p:sp>
      <p:sp>
        <p:nvSpPr>
          <p:cNvPr id="57" name="Text 55"/>
          <p:cNvSpPr/>
          <p:nvPr/>
        </p:nvSpPr>
        <p:spPr>
          <a:xfrm>
            <a:off x="16916400" y="6357938"/>
            <a:ext cx="68580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73.9%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0194131" y="6738938"/>
            <a:ext cx="20955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FailedToRun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2403931" y="6743700"/>
            <a:ext cx="4398169" cy="247650"/>
          </a:xfrm>
          <a:prstGeom prst="roundRect">
            <a:avLst>
              <a:gd name="adj" fmla="val 1538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2403931" y="6743700"/>
            <a:ext cx="2946648" cy="247650"/>
          </a:xfrm>
          <a:prstGeom prst="roundRect">
            <a:avLst>
              <a:gd name="adj" fmla="val 15385"/>
            </a:avLst>
          </a:prstGeom>
          <a:solidFill>
            <a:srgbClr val="E0772B"/>
          </a:solidFill>
          <a:ln/>
        </p:spPr>
      </p:sp>
      <p:sp>
        <p:nvSpPr>
          <p:cNvPr id="61" name="Text 59"/>
          <p:cNvSpPr/>
          <p:nvPr/>
        </p:nvSpPr>
        <p:spPr>
          <a:xfrm>
            <a:off x="16916400" y="6738938"/>
            <a:ext cx="68580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66.7%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10384631" y="9486900"/>
            <a:ext cx="7141369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384631" y="9591675"/>
            <a:ext cx="73556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 rescue </a:t>
            </a:r>
            <a:pPr algn="l" indent="0" marL="0">
              <a:buNone/>
            </a:pPr>
            <a:r>
              <a:rPr lang="en-US" sz="17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80.6% </a:t>
            </a:r>
            <a:pPr algn="l" indent="0" marL="0">
              <a:buNone/>
            </a:pPr>
            <a:r>
              <a:rPr lang="en-US" sz="17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(1286/1596) toàn bộ PLLM failures.</a:t>
            </a:r>
            <a:endParaRPr lang="en-US" sz="17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KẾT QUẢ ·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GitChameleon: Open vs Closed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857375"/>
            <a:ext cx="9198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xếp hạng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2895600"/>
            <a:ext cx="2792909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2514600"/>
            <a:ext cx="26480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554909" y="2895600"/>
            <a:ext cx="3218111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69209" y="2514600"/>
            <a:ext cx="30860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73019" y="2895600"/>
            <a:ext cx="1382911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11119" y="2514600"/>
            <a:ext cx="12305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155930" y="2895600"/>
            <a:ext cx="968573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32130" y="2514600"/>
            <a:ext cx="8161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2000" y="2914650"/>
            <a:ext cx="8362504" cy="633413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53853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3048000"/>
            <a:ext cx="264809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GPT-4o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669209" y="3048000"/>
            <a:ext cx="308605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gen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11119" y="3048000"/>
            <a:ext cx="123051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49.1%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32130" y="3048000"/>
            <a:ext cx="81617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62000" y="3548063"/>
            <a:ext cx="8362504" cy="62865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16718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" y="3681413"/>
            <a:ext cx="264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Gemini 2.5 Pro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669209" y="3681413"/>
            <a:ext cx="30860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gen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811119" y="3681413"/>
            <a:ext cx="1230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50.0%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232130" y="3681413"/>
            <a:ext cx="8161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62000" y="4176712"/>
            <a:ext cx="8362504" cy="62865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479583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76300" y="4310062"/>
            <a:ext cx="264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o1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3669209" y="4310062"/>
            <a:ext cx="30860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(best)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11119" y="4310062"/>
            <a:ext cx="1230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51.2%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232130" y="4310062"/>
            <a:ext cx="8161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762000" y="4805363"/>
            <a:ext cx="8362504" cy="628650"/>
          </a:xfrm>
          <a:prstGeom prst="rect">
            <a:avLst/>
          </a:prstGeom>
          <a:solidFill>
            <a:srgbClr val="2C3E6B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542448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76300" y="4938712"/>
            <a:ext cx="264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GPT-4.1 + RAG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669209" y="4938712"/>
            <a:ext cx="30860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closed + RAG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6811119" y="4938712"/>
            <a:ext cx="1230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58.5%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232130" y="4938712"/>
            <a:ext cx="8161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✗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762000" y="605313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76300" y="5567362"/>
            <a:ext cx="264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3669209" y="5567362"/>
            <a:ext cx="30860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 + RAG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6811119" y="5567362"/>
            <a:ext cx="1230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65.5%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232130" y="5567362"/>
            <a:ext cx="8161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762000" y="6681788"/>
            <a:ext cx="8362504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76300" y="6196012"/>
            <a:ext cx="264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3669209" y="6196012"/>
            <a:ext cx="308605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 + Memory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6811119" y="6196012"/>
            <a:ext cx="1230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81.7%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8232130" y="6196012"/>
            <a:ext cx="8161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762000" y="6691313"/>
            <a:ext cx="8362504" cy="661988"/>
          </a:xfrm>
          <a:prstGeom prst="rect">
            <a:avLst/>
          </a:prstGeom>
          <a:solidFill>
            <a:srgbClr val="E0772B">
              <a:alpha val="16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76300" y="6843713"/>
            <a:ext cx="264809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3669209" y="6843713"/>
            <a:ext cx="308605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 + Agent+CA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6811119" y="6843713"/>
            <a:ext cx="123051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83.2%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8232130" y="6843713"/>
            <a:ext cx="81617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581704" y="1857375"/>
            <a:ext cx="87387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 quát hóa chéo benchmark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581704" y="2895600"/>
            <a:ext cx="2176909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696004" y="2514600"/>
            <a:ext cx="20245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1758613" y="2895600"/>
            <a:ext cx="1686074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1796713" y="2514600"/>
            <a:ext cx="1533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HG2.9K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3444686" y="2895600"/>
            <a:ext cx="2021979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3482786" y="2514600"/>
            <a:ext cx="18695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GITCHAM.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5466665" y="2895600"/>
            <a:ext cx="2059335" cy="19050"/>
          </a:xfrm>
          <a:prstGeom prst="rect">
            <a:avLst/>
          </a:prstGeom>
          <a:solidFill>
            <a:srgbClr val="16242A">
              <a:alpha val="3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5504765" y="2514600"/>
            <a:ext cx="19069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spc="75" kern="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GAP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9581704" y="3595688"/>
            <a:ext cx="7944296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696004" y="3086100"/>
            <a:ext cx="202450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11796713" y="3086100"/>
            <a:ext cx="153367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44.8%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13482786" y="3086100"/>
            <a:ext cx="186957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65.5%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15504765" y="3086100"/>
            <a:ext cx="190693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−20.7pp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9581704" y="4281488"/>
            <a:ext cx="7944296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696004" y="3776663"/>
            <a:ext cx="20245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11796713" y="3776663"/>
            <a:ext cx="153367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86.3%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13482786" y="3776663"/>
            <a:ext cx="186957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81.7%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15504765" y="3776663"/>
            <a:ext cx="19069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−4.6pp</a:t>
            </a:r>
            <a:endParaRPr lang="en-US" sz="2100" dirty="0"/>
          </a:p>
        </p:txBody>
      </p:sp>
      <p:sp>
        <p:nvSpPr>
          <p:cNvPr id="71" name="Shape 69"/>
          <p:cNvSpPr/>
          <p:nvPr/>
        </p:nvSpPr>
        <p:spPr>
          <a:xfrm>
            <a:off x="9581704" y="4291013"/>
            <a:ext cx="7944296" cy="719138"/>
          </a:xfrm>
          <a:prstGeom prst="rect">
            <a:avLst/>
          </a:prstGeom>
          <a:solidFill>
            <a:srgbClr val="E0772B">
              <a:alpha val="16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9696004" y="4481512"/>
            <a:ext cx="202450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2100" dirty="0"/>
          </a:p>
        </p:txBody>
      </p:sp>
      <p:sp>
        <p:nvSpPr>
          <p:cNvPr id="73" name="Text 71"/>
          <p:cNvSpPr/>
          <p:nvPr/>
        </p:nvSpPr>
        <p:spPr>
          <a:xfrm>
            <a:off x="11796713" y="4481512"/>
            <a:ext cx="153367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87.1%</a:t>
            </a:r>
            <a:endParaRPr lang="en-US" sz="2100" dirty="0"/>
          </a:p>
        </p:txBody>
      </p:sp>
      <p:sp>
        <p:nvSpPr>
          <p:cNvPr id="74" name="Text 72"/>
          <p:cNvSpPr/>
          <p:nvPr/>
        </p:nvSpPr>
        <p:spPr>
          <a:xfrm>
            <a:off x="13482786" y="4481512"/>
            <a:ext cx="186957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83.2%</a:t>
            </a:r>
            <a:endParaRPr lang="en-US" sz="2100" dirty="0"/>
          </a:p>
        </p:txBody>
      </p:sp>
      <p:sp>
        <p:nvSpPr>
          <p:cNvPr id="75" name="Text 73"/>
          <p:cNvSpPr/>
          <p:nvPr/>
        </p:nvSpPr>
        <p:spPr>
          <a:xfrm>
            <a:off x="15504765" y="4481512"/>
            <a:ext cx="190693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−3.9pp</a:t>
            </a:r>
            <a:endParaRPr lang="en-US" sz="2100" dirty="0"/>
          </a:p>
        </p:txBody>
      </p:sp>
      <p:sp>
        <p:nvSpPr>
          <p:cNvPr id="76" name="Text 74"/>
          <p:cNvSpPr/>
          <p:nvPr/>
        </p:nvSpPr>
        <p:spPr>
          <a:xfrm>
            <a:off x="9581704" y="5238750"/>
            <a:ext cx="81826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Gap nhỏ = tổng quát hóa tốt giữa in-distribution và OOD. (closed baselines từ arXiv 2507.12367)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62000" y="93726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510540" y="9534525"/>
            <a:ext cx="17266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 (open 9B, &lt;10 GB VRAM) vượt o1 (closed, &gt;200B params) </a:t>
            </a:r>
            <a:pPr algn="ctr" indent="0" marL="0">
              <a:buNone/>
            </a:pPr>
            <a:r>
              <a:rPr lang="en-US" sz="19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+32.0pp 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 GitChameleon: </a:t>
            </a:r>
            <a:pPr algn="ctr" indent="0" marL="0">
              <a:buNone/>
            </a:pPr>
            <a:r>
              <a:rPr lang="en-US" sz="1950" i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 design &gt; raw model scale</a:t>
            </a:r>
            <a:pPr algn="ctr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KẾT QUẢ ·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Speed &amp; Ablation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647825"/>
            <a:ext cx="91987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Duration trên GitChameleon (s)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62000" y="1924050"/>
            <a:ext cx="91987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budget 5 vòng Docker build cho cả 3 tool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762000" y="8582025"/>
            <a:ext cx="8362504" cy="19050"/>
          </a:xfrm>
          <a:prstGeom prst="rect">
            <a:avLst/>
          </a:prstGeom>
          <a:solidFill>
            <a:srgbClr val="16242A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98550" y="5662910"/>
            <a:ext cx="323850" cy="2576215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8" name="Text 6"/>
          <p:cNvSpPr/>
          <p:nvPr/>
        </p:nvSpPr>
        <p:spPr>
          <a:xfrm>
            <a:off x="1537915" y="5415260"/>
            <a:ext cx="3213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98600" y="7063085"/>
            <a:ext cx="323850" cy="117604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0" name="Text 8"/>
          <p:cNvSpPr/>
          <p:nvPr/>
        </p:nvSpPr>
        <p:spPr>
          <a:xfrm>
            <a:off x="1930301" y="6815435"/>
            <a:ext cx="3366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98650" y="7567166"/>
            <a:ext cx="323850" cy="671959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024" y="7319516"/>
            <a:ext cx="4633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17.8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1202" y="2638425"/>
            <a:ext cx="323850" cy="560070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/>
          <p:nvPr/>
        </p:nvSpPr>
        <p:spPr>
          <a:xfrm>
            <a:off x="4366766" y="2390775"/>
            <a:ext cx="42892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81252" y="5438775"/>
            <a:ext cx="323850" cy="280035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22552" y="5191125"/>
            <a:ext cx="3174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81302" y="6390977"/>
            <a:ext cx="323850" cy="18481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5113362" y="6143327"/>
            <a:ext cx="5359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48.5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64003" y="4262735"/>
            <a:ext cx="323850" cy="3976390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20" name="Text 18"/>
          <p:cNvSpPr/>
          <p:nvPr/>
        </p:nvSpPr>
        <p:spPr>
          <a:xfrm>
            <a:off x="7249567" y="4015085"/>
            <a:ext cx="42892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64053" y="6446937"/>
            <a:ext cx="323850" cy="179218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703641" y="6199287"/>
            <a:ext cx="32087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64103" y="6895058"/>
            <a:ext cx="323850" cy="1344067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/>
          <p:nvPr/>
        </p:nvSpPr>
        <p:spPr>
          <a:xfrm>
            <a:off x="7997651" y="6647408"/>
            <a:ext cx="5329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35.6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2622" y="8677275"/>
            <a:ext cx="30663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Median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3410181" y="8677275"/>
            <a:ext cx="30661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P90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197575" y="8677275"/>
            <a:ext cx="30663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Fail-avg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62000" y="9039225"/>
            <a:ext cx="7922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■ </a:t>
            </a:r>
            <a:pPr algn="l" indent="0" marL="0">
              <a:buNone/>
            </a:pPr>
            <a:r>
              <a:rPr lang="en-US" sz="15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PLLM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706612" y="9039225"/>
            <a:ext cx="10910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98A2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■ </a:t>
            </a:r>
            <a:pPr algn="l" indent="0" marL="0">
              <a:buNone/>
            </a:pPr>
            <a:r>
              <a:rPr lang="en-US" sz="15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2950071" y="9039225"/>
            <a:ext cx="8535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■ </a:t>
            </a:r>
            <a:pPr algn="l" indent="0" marL="0">
              <a:buNone/>
            </a:pPr>
            <a:r>
              <a:rPr lang="en-US" sz="15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CGAR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9581704" y="1647825"/>
            <a:ext cx="87387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Ablation: CGAR rescue (n=396)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362629" y="4614863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Full CGAR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905804" y="4586288"/>
            <a:ext cx="4248596" cy="323850"/>
          </a:xfrm>
          <a:prstGeom prst="roundRect">
            <a:avLst>
              <a:gd name="adj" fmla="val 1176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905804" y="4586288"/>
            <a:ext cx="4248596" cy="323850"/>
          </a:xfrm>
          <a:prstGeom prst="roundRect">
            <a:avLst>
              <a:gd name="adj" fmla="val 11765"/>
            </a:avLst>
          </a:prstGeom>
          <a:solidFill>
            <a:srgbClr val="2E7D5B"/>
          </a:solidFill>
          <a:ln/>
        </p:spPr>
      </p:sp>
      <p:sp>
        <p:nvSpPr>
          <p:cNvPr id="35" name="Text 33"/>
          <p:cNvSpPr/>
          <p:nvPr/>
        </p:nvSpPr>
        <p:spPr>
          <a:xfrm>
            <a:off x="16287750" y="4614863"/>
            <a:ext cx="1362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71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362629" y="5129213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w/o session store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905804" y="5100638"/>
            <a:ext cx="4248596" cy="323850"/>
          </a:xfrm>
          <a:prstGeom prst="roundRect">
            <a:avLst>
              <a:gd name="adj" fmla="val 1176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905804" y="5100638"/>
            <a:ext cx="3356372" cy="323850"/>
          </a:xfrm>
          <a:prstGeom prst="roundRect">
            <a:avLst>
              <a:gd name="adj" fmla="val 11765"/>
            </a:avLst>
          </a:prstGeom>
          <a:solidFill>
            <a:srgbClr val="23373B"/>
          </a:solidFill>
          <a:ln/>
        </p:spPr>
      </p:sp>
      <p:sp>
        <p:nvSpPr>
          <p:cNvPr id="39" name="Text 37"/>
          <p:cNvSpPr/>
          <p:nvPr/>
        </p:nvSpPr>
        <p:spPr>
          <a:xfrm>
            <a:off x="16287750" y="5129213"/>
            <a:ext cx="1362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56 </a:t>
            </a:r>
            <a:pPr algn="l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−21%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9362629" y="5643563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w/o wheel filter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905804" y="5614988"/>
            <a:ext cx="4248596" cy="323850"/>
          </a:xfrm>
          <a:prstGeom prst="roundRect">
            <a:avLst>
              <a:gd name="adj" fmla="val 1176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905804" y="5614988"/>
            <a:ext cx="2379166" cy="323850"/>
          </a:xfrm>
          <a:prstGeom prst="roundRect">
            <a:avLst>
              <a:gd name="adj" fmla="val 11765"/>
            </a:avLst>
          </a:prstGeom>
          <a:solidFill>
            <a:srgbClr val="4A5A5E"/>
          </a:solidFill>
          <a:ln/>
        </p:spPr>
      </p:sp>
      <p:sp>
        <p:nvSpPr>
          <p:cNvPr id="43" name="Text 41"/>
          <p:cNvSpPr/>
          <p:nvPr/>
        </p:nvSpPr>
        <p:spPr>
          <a:xfrm>
            <a:off x="16287750" y="5643563"/>
            <a:ext cx="1362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40 </a:t>
            </a:r>
            <a:pPr algn="l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−44%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362629" y="6157913"/>
            <a:ext cx="24098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w/o upper bound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1905804" y="6129338"/>
            <a:ext cx="4248596" cy="323850"/>
          </a:xfrm>
          <a:prstGeom prst="roundRect">
            <a:avLst>
              <a:gd name="adj" fmla="val 11765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905804" y="6129338"/>
            <a:ext cx="1359545" cy="323850"/>
          </a:xfrm>
          <a:prstGeom prst="roundRect">
            <a:avLst>
              <a:gd name="adj" fmla="val 11765"/>
            </a:avLst>
          </a:prstGeom>
          <a:solidFill>
            <a:srgbClr val="7E8C8E"/>
          </a:solidFill>
          <a:ln/>
        </p:spPr>
      </p:sp>
      <p:sp>
        <p:nvSpPr>
          <p:cNvPr id="47" name="Text 45"/>
          <p:cNvSpPr/>
          <p:nvPr/>
        </p:nvSpPr>
        <p:spPr>
          <a:xfrm>
            <a:off x="16287750" y="6157913"/>
            <a:ext cx="1362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23 </a:t>
            </a:r>
            <a:pPr algn="l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−68%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9581704" y="9039225"/>
            <a:ext cx="87387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thành phần đều cần thiết; upper bound đóng góp lớn nhất.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762000" y="941070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10540" y="9553575"/>
            <a:ext cx="172669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i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“The best build is the one you never run.” </a:t>
            </a:r>
            <a:pPr algn="ctr" indent="0" marL="0">
              <a:buNone/>
            </a:pPr>
            <a:r>
              <a:rPr lang="en-US" sz="17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Solver tỉa không gian → ít Docker build; fail chỉ chậm hơn pass </a:t>
            </a:r>
            <a:pPr algn="ctr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1.31× </a:t>
            </a:r>
            <a:pPr algn="ctr" indent="0" marL="0">
              <a:buNone/>
            </a:pPr>
            <a:r>
              <a:rPr lang="en-US" sz="172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(PLLM 2.20×).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6702" y="2000250"/>
            <a:ext cx="9157662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spc="-1800" kern="0" dirty="0">
                <a:solidFill>
                  <a:srgbClr val="FFFFFF">
                    <a:alpha val="3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40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4600" y="2762250"/>
            <a:ext cx="7239000" cy="476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33400"/>
            <a:ext cx="21950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MEMRES → CGAR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293405" y="533400"/>
            <a:ext cx="11563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6B80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05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914400" y="952500"/>
            <a:ext cx="164592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441948"/>
            <a:ext cx="18105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37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PHẦN 05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914400" y="3994398"/>
            <a:ext cx="16952976" cy="1702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b="1" spc="-225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chế &amp; Hướng phát triển</a:t>
            </a:r>
            <a:endParaRPr lang="en-US" sz="6900" dirty="0"/>
          </a:p>
        </p:txBody>
      </p:sp>
      <p:sp>
        <p:nvSpPr>
          <p:cNvPr id="9" name="Shape 6"/>
          <p:cNvSpPr/>
          <p:nvPr/>
        </p:nvSpPr>
        <p:spPr>
          <a:xfrm>
            <a:off x="914400" y="6021139"/>
            <a:ext cx="1143000" cy="47625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6430714"/>
            <a:ext cx="12049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floor · giới hạn kiến trúc · bốn hướng mở rộng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HẠN CHẾ ·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chế: Hard Floor &amp; Architectural Limits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666875"/>
            <a:ext cx="9855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floor: 310 snippet </a:t>
            </a:r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(10.7%)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952625"/>
            <a:ext cx="98557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PLLM và CGAR đều fail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676275" y="3790950"/>
            <a:ext cx="2943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2 syntax (no Py2 wheel)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52850" y="3914775"/>
            <a:ext cx="5130701" cy="285750"/>
          </a:xfrm>
          <a:prstGeom prst="roundRect">
            <a:avLst>
              <a:gd name="adj" fmla="val 13333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52850" y="3914775"/>
            <a:ext cx="5079355" cy="285750"/>
          </a:xfrm>
          <a:prstGeom prst="roundRect">
            <a:avLst>
              <a:gd name="adj" fmla="val 13333"/>
            </a:avLst>
          </a:prstGeom>
          <a:solidFill>
            <a:srgbClr val="B5483F"/>
          </a:solidFill>
          <a:ln/>
        </p:spPr>
      </p:sp>
      <p:sp>
        <p:nvSpPr>
          <p:cNvPr id="9" name="Text 7"/>
          <p:cNvSpPr/>
          <p:nvPr/>
        </p:nvSpPr>
        <p:spPr>
          <a:xfrm>
            <a:off x="9016901" y="392430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41.6%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6275" y="4533900"/>
            <a:ext cx="2943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ImportError system/private pkg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752850" y="4667250"/>
            <a:ext cx="5130701" cy="266700"/>
          </a:xfrm>
          <a:prstGeom prst="roundRect">
            <a:avLst>
              <a:gd name="adj" fmla="val 14286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752850" y="4667250"/>
            <a:ext cx="3180904" cy="266700"/>
          </a:xfrm>
          <a:prstGeom prst="roundRect">
            <a:avLst>
              <a:gd name="adj" fmla="val 14286"/>
            </a:avLst>
          </a:prstGeom>
          <a:solidFill>
            <a:srgbClr val="C5683F"/>
          </a:solidFill>
          <a:ln/>
        </p:spPr>
      </p:sp>
      <p:sp>
        <p:nvSpPr>
          <p:cNvPr id="13" name="Text 11"/>
          <p:cNvSpPr/>
          <p:nvPr/>
        </p:nvSpPr>
        <p:spPr>
          <a:xfrm>
            <a:off x="9016901" y="466725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25.8%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6275" y="5276850"/>
            <a:ext cx="2943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NoMatchingDist (pkg absent)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752850" y="5410200"/>
            <a:ext cx="5130701" cy="266700"/>
          </a:xfrm>
          <a:prstGeom prst="roundRect">
            <a:avLst>
              <a:gd name="adj" fmla="val 14286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752850" y="5410200"/>
            <a:ext cx="1641723" cy="266700"/>
          </a:xfrm>
          <a:prstGeom prst="roundRect">
            <a:avLst>
              <a:gd name="adj" fmla="val 14286"/>
            </a:avLst>
          </a:prstGeom>
          <a:solidFill>
            <a:srgbClr val="D89A5B"/>
          </a:solidFill>
          <a:ln/>
        </p:spPr>
      </p:sp>
      <p:sp>
        <p:nvSpPr>
          <p:cNvPr id="17" name="Text 15"/>
          <p:cNvSpPr/>
          <p:nvPr/>
        </p:nvSpPr>
        <p:spPr>
          <a:xfrm>
            <a:off x="9016901" y="541020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13.3%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6275" y="6019800"/>
            <a:ext cx="2943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CouldNotBuildWheels (glibc/native)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3752850" y="6153150"/>
            <a:ext cx="5130701" cy="266700"/>
          </a:xfrm>
          <a:prstGeom prst="roundRect">
            <a:avLst>
              <a:gd name="adj" fmla="val 14286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52850" y="6153150"/>
            <a:ext cx="974824" cy="266700"/>
          </a:xfrm>
          <a:prstGeom prst="roundRect">
            <a:avLst>
              <a:gd name="adj" fmla="val 14286"/>
            </a:avLst>
          </a:prstGeom>
          <a:solidFill>
            <a:srgbClr val="D89A5B"/>
          </a:solidFill>
          <a:ln/>
        </p:spPr>
      </p:sp>
      <p:sp>
        <p:nvSpPr>
          <p:cNvPr id="21" name="Text 19"/>
          <p:cNvSpPr/>
          <p:nvPr/>
        </p:nvSpPr>
        <p:spPr>
          <a:xfrm>
            <a:off x="9016901" y="615315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8.1%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76275" y="6762750"/>
            <a:ext cx="2943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removed (no compat older)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752850" y="6896100"/>
            <a:ext cx="5130701" cy="266700"/>
          </a:xfrm>
          <a:prstGeom prst="roundRect">
            <a:avLst>
              <a:gd name="adj" fmla="val 14286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52850" y="6896100"/>
            <a:ext cx="513011" cy="266700"/>
          </a:xfrm>
          <a:prstGeom prst="roundRect">
            <a:avLst>
              <a:gd name="adj" fmla="val 14286"/>
            </a:avLst>
          </a:prstGeom>
          <a:solidFill>
            <a:srgbClr val="D89A5B"/>
          </a:solidFill>
          <a:ln/>
        </p:spPr>
      </p:sp>
      <p:sp>
        <p:nvSpPr>
          <p:cNvPr id="25" name="Text 23"/>
          <p:cNvSpPr/>
          <p:nvPr/>
        </p:nvSpPr>
        <p:spPr>
          <a:xfrm>
            <a:off x="9016901" y="689610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4.0%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76250" y="7505700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Other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752850" y="7505700"/>
            <a:ext cx="5130701" cy="266700"/>
          </a:xfrm>
          <a:prstGeom prst="roundRect">
            <a:avLst>
              <a:gd name="adj" fmla="val 14286"/>
            </a:avLst>
          </a:prstGeom>
          <a:solidFill>
            <a:srgbClr val="16242A">
              <a:alpha val="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52850" y="7505700"/>
            <a:ext cx="872133" cy="266700"/>
          </a:xfrm>
          <a:prstGeom prst="roundRect">
            <a:avLst>
              <a:gd name="adj" fmla="val 14286"/>
            </a:avLst>
          </a:prstGeom>
          <a:solidFill>
            <a:srgbClr val="9AA6A7"/>
          </a:solidFill>
          <a:ln/>
        </p:spPr>
      </p:sp>
      <p:sp>
        <p:nvSpPr>
          <p:cNvPr id="29" name="Text 27"/>
          <p:cNvSpPr/>
          <p:nvPr/>
        </p:nvSpPr>
        <p:spPr>
          <a:xfrm>
            <a:off x="9016901" y="7505700"/>
            <a:ext cx="781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7.2%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62000" y="9334500"/>
            <a:ext cx="922854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i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Irreducible dưới ràng buộc hiện tại (Docker, PyPI public, no source patching, ≤10 retries), không phải lỗi tool.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0178951" y="1666875"/>
            <a:ext cx="80817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chế kiến trúc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178951" y="2105025"/>
            <a:ext cx="7347049" cy="1807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78951" y="2105025"/>
            <a:ext cx="38100" cy="1807369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6601" y="2703909"/>
            <a:ext cx="75788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 thuộc PyPI live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26601" y="3046809"/>
            <a:ext cx="757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PyPI down/rate-limit → fallback về MEMRES cascade.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0178951" y="4083844"/>
            <a:ext cx="7347049" cy="1807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78951" y="4083844"/>
            <a:ext cx="38100" cy="1807369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6601" y="4682728"/>
            <a:ext cx="75788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 ecosystem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426601" y="5025628"/>
            <a:ext cx="757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Python, chưa generalize sang JS / Rust / Go.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0178951" y="6062663"/>
            <a:ext cx="7347049" cy="1807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78951" y="6062663"/>
            <a:ext cx="38100" cy="1807369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42" name="Text 40"/>
          <p:cNvSpPr/>
          <p:nvPr/>
        </p:nvSpPr>
        <p:spPr>
          <a:xfrm>
            <a:off x="10426601" y="6661547"/>
            <a:ext cx="75788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Analyzer brittle với log lạ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426601" y="7004447"/>
            <a:ext cx="757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Gemma-2 9B parse sai khi log ngoài pretrain.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0178951" y="8041481"/>
            <a:ext cx="7347049" cy="1807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78951" y="8041481"/>
            <a:ext cx="38100" cy="1807369"/>
          </a:xfrm>
          <a:prstGeom prst="rect">
            <a:avLst/>
          </a:prstGeom>
          <a:solidFill>
            <a:srgbClr val="B5483F"/>
          </a:solidFill>
          <a:ln/>
        </p:spPr>
      </p:sp>
      <p:sp>
        <p:nvSpPr>
          <p:cNvPr id="46" name="Text 44"/>
          <p:cNvSpPr/>
          <p:nvPr/>
        </p:nvSpPr>
        <p:spPr>
          <a:xfrm>
            <a:off x="10426601" y="8640366"/>
            <a:ext cx="75788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5483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Single-worker session store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426601" y="8983266"/>
            <a:ext cx="757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 hỗ trợ multi-user federated learning.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HƯỚNG PHÁT TRIỂN ·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62025"/>
            <a:ext cx="1810512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 phát triển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85925"/>
            <a:ext cx="8105775" cy="3719512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7963" y="1924050"/>
            <a:ext cx="53503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1285875" y="2095500"/>
            <a:ext cx="809910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rộng đa ngôn ngữ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85875" y="2828925"/>
            <a:ext cx="758371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 dụng CGAR cho </a:t>
            </a:r>
            <a:pPr algn="l" indent="0" marL="0">
              <a:lnSpc>
                <a:spcPct val="170000"/>
              </a:lnSpc>
              <a:buNone/>
            </a:pPr>
            <a:r>
              <a:rPr lang="en-US" sz="24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npm</a:t>
            </a:r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algn="l" indent="0" marL="0">
              <a:lnSpc>
                <a:spcPct val="170000"/>
              </a:lnSpc>
              <a:buNone/>
            </a:pPr>
            <a:r>
              <a:rPr lang="en-US" sz="24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cargo</a:t>
            </a:r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algn="l" indent="0" marL="0">
              <a:lnSpc>
                <a:spcPct val="170000"/>
              </a:lnSpc>
              <a:buNone/>
            </a:pPr>
            <a:r>
              <a:rPr lang="en-US" sz="24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go.mod </a:t>
            </a:r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bộ giải không phụ thuộc ecosystem, chỉ cần adapter cho từng registry.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9267825" y="1685925"/>
            <a:ext cx="8105775" cy="3719512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51895" y="1924050"/>
            <a:ext cx="76453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8100" dirty="0"/>
          </a:p>
        </p:txBody>
      </p:sp>
      <p:sp>
        <p:nvSpPr>
          <p:cNvPr id="10" name="Text 8"/>
          <p:cNvSpPr/>
          <p:nvPr/>
        </p:nvSpPr>
        <p:spPr>
          <a:xfrm>
            <a:off x="9639300" y="2095500"/>
            <a:ext cx="809910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sẻ constraint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639300" y="2828925"/>
            <a:ext cx="758371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Federated, bảo toàn riêng tư: snippet user A fix giúp user B tránh lỗi tương tự, tận dụng quy mô cộng đồng.</a:t>
            </a:r>
            <a:endParaRPr lang="en-US" sz="2475" dirty="0"/>
          </a:p>
        </p:txBody>
      </p:sp>
      <p:sp>
        <p:nvSpPr>
          <p:cNvPr id="12" name="Shape 10"/>
          <p:cNvSpPr/>
          <p:nvPr/>
        </p:nvSpPr>
        <p:spPr>
          <a:xfrm>
            <a:off x="914400" y="5653088"/>
            <a:ext cx="8105775" cy="3719512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0015" y="5891213"/>
            <a:ext cx="7829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8100" dirty="0"/>
          </a:p>
        </p:txBody>
      </p:sp>
      <p:sp>
        <p:nvSpPr>
          <p:cNvPr id="14" name="Text 12"/>
          <p:cNvSpPr/>
          <p:nvPr/>
        </p:nvSpPr>
        <p:spPr>
          <a:xfrm>
            <a:off x="1285875" y="6062663"/>
            <a:ext cx="809910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 chỉnh LLM đọc lỗi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85875" y="6796088"/>
            <a:ext cx="758371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Fine-tune Gemma-2 trên dữ liệu </a:t>
            </a:r>
            <a:pPr algn="l" indent="0" marL="0">
              <a:lnSpc>
                <a:spcPct val="170000"/>
              </a:lnSpc>
              <a:buNone/>
            </a:pPr>
            <a:r>
              <a:rPr lang="en-US" sz="24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log </a:t>
            </a:r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 dụng để phân loại đúng lỗi, sinh constraint chính xác hơn.</a:t>
            </a:r>
            <a:endParaRPr lang="en-US" sz="2475" dirty="0"/>
          </a:p>
        </p:txBody>
      </p:sp>
      <p:sp>
        <p:nvSpPr>
          <p:cNvPr id="16" name="Shape 14"/>
          <p:cNvSpPr/>
          <p:nvPr/>
        </p:nvSpPr>
        <p:spPr>
          <a:xfrm>
            <a:off x="9267825" y="5653088"/>
            <a:ext cx="8105775" cy="3719512"/>
          </a:xfrm>
          <a:prstGeom prst="roundRect">
            <a:avLst>
              <a:gd name="adj" fmla="val 3585"/>
            </a:avLst>
          </a:prstGeom>
          <a:solidFill>
            <a:srgbClr val="FFFFFF"/>
          </a:solidFill>
          <a:ln w="9525">
            <a:solidFill>
              <a:srgbClr val="16242A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96382" y="5891213"/>
            <a:ext cx="82004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dirty="0">
                <a:solidFill>
                  <a:srgbClr val="E0772B">
                    <a:alpha val="14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8100" dirty="0"/>
          </a:p>
        </p:txBody>
      </p:sp>
      <p:sp>
        <p:nvSpPr>
          <p:cNvPr id="18" name="Text 16"/>
          <p:cNvSpPr/>
          <p:nvPr/>
        </p:nvSpPr>
        <p:spPr>
          <a:xfrm>
            <a:off x="9639300" y="6062663"/>
            <a:ext cx="8099108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rộng đa mô hình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9639300" y="6796088"/>
            <a:ext cx="7583710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CGAR trên nhiều LLM backbone (Qwen3, Phi, Llama…) và các </a:t>
            </a:r>
            <a:pPr algn="l" indent="0" marL="0">
              <a:lnSpc>
                <a:spcPct val="170000"/>
              </a:lnSpc>
              <a:buNone/>
            </a:pPr>
            <a:r>
              <a:rPr lang="en-US" sz="2475" b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nhỏ/rẻ </a:t>
            </a:r>
            <a:pPr algn="l" indent="0" marL="0">
              <a:lnSpc>
                <a:spcPct val="170000"/>
              </a:lnSpc>
              <a:buNone/>
            </a:pPr>
            <a:r>
              <a:rPr lang="en-US" sz="247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hơn, chứng minh độc lập với một model cụ thể.</a:t>
            </a:r>
            <a:endParaRPr lang="en-US" sz="2475" dirty="0"/>
          </a:p>
        </p:txBody>
      </p:sp>
      <p:sp>
        <p:nvSpPr>
          <p:cNvPr id="20" name="Text 18"/>
          <p:cNvSpPr/>
          <p:nvPr/>
        </p:nvSpPr>
        <p:spPr>
          <a:xfrm>
            <a:off x="91440" y="952500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dài hạn: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bộ giải cho Python trở thành </a:t>
            </a:r>
            <a:pPr algn="ctr" indent="0" marL="0">
              <a:buNone/>
            </a:pPr>
            <a:r>
              <a:rPr lang="en-US" sz="18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“environment archaeologist” </a:t>
            </a:r>
            <a:pPr algn="ctr" indent="0" marL="0">
              <a:buNone/>
            </a:pPr>
            <a:r>
              <a:rPr lang="en-US" sz="1875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 năng cho mọi ecosystem.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THAM KHẢO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23925"/>
            <a:ext cx="184404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 liệu tham khảo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762000" y="1857375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407914" y="1857375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Horton &amp; Parnin.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Gistable: Evaluating the executability of Python code snippets on GitHub.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ICSME, 2018.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563100" y="1857375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209014" y="1857375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Ye et al.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Knowledge-based environment dependency inference for Python (PyEGo).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ICSE, 2022.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762000" y="3600450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407914" y="3600450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Revisiting knowledge-based inference of Python runtime environments (ReadPyE).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IEEE TSE, vol. 50, 2024.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563100" y="3600450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0209014" y="3600450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Mukherjee et al.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Fixing dependency errors for Python build reproducibility (PyDFix).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ISSTA, 2021.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762000" y="5343525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[5]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1407914" y="5343525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Bartlett et al.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Raiders of the lost dependency: Fixing dependency conflicts using LLMs (PLLM).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arXiv:2501.16191, 2025.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563100" y="5343525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[6]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0209014" y="5343525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GitChameleon 2.0: Evaluating AI code generation against Python library version incompatibilities.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arXiv:2507.12367, 2025.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762000" y="7086600"/>
            <a:ext cx="6078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[7]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1407914" y="7086600"/>
            <a:ext cx="753649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Shinn et al.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Reflexion: Language agents with verbal reinforcement learning.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NeurIPS, 2023.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9563100" y="7086600"/>
            <a:ext cx="6078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[8]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10209014" y="7086600"/>
            <a:ext cx="753649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 Moura &amp; Bjørner. </a:t>
            </a:r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Z3: An efficient SMT solver.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TACAS, 2008.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762000" y="8386763"/>
            <a:ext cx="607814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[9]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1407914" y="8386763"/>
            <a:ext cx="753649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325" i="1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SMT-LLM: Z3 SMT + LLM imputation for dependency resolution. </a:t>
            </a:r>
            <a:pPr algn="l" indent="0" marL="0">
              <a:lnSpc>
                <a:spcPct val="150000"/>
              </a:lnSpc>
              <a:buNone/>
            </a:pPr>
            <a:r>
              <a:rPr lang="en-US" sz="2325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FSE-AIWare 2026 competition entry (reproduced).</a:t>
            </a:r>
            <a:endParaRPr lang="en-US" sz="23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57250" y="6667500"/>
            <a:ext cx="5392475" cy="499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0" b="1" dirty="0">
                <a:solidFill>
                  <a:srgbClr val="E0772B">
                    <a:alpha val="8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►</a:t>
            </a:r>
            <a:endParaRPr lang="en-US" sz="39000" dirty="0"/>
          </a:p>
        </p:txBody>
      </p:sp>
      <p:sp>
        <p:nvSpPr>
          <p:cNvPr id="3" name="Text 1"/>
          <p:cNvSpPr/>
          <p:nvPr/>
        </p:nvSpPr>
        <p:spPr>
          <a:xfrm>
            <a:off x="7786688" y="1184077"/>
            <a:ext cx="29860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 TRÌNH BÀY</a:t>
            </a:r>
            <a:endParaRPr lang="en-US" sz="1875" dirty="0"/>
          </a:p>
        </p:txBody>
      </p:sp>
      <p:pic>
        <p:nvPicPr>
          <p:cNvPr id="7" name="cgar_presentation_narrated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524250" y="1831777"/>
            <a:ext cx="11239500" cy="6347222"/>
          </a:xfrm>
          <a:prstGeom prst="roundRect">
            <a:avLst>
              <a:gd name="adj" fmla="val 2401"/>
            </a:avLst>
          </a:prstGeom>
          <a:ln w="28575">
            <a:solidFill>
              <a:srgbClr val="E0772B"/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6096000"/>
            <a:ext cx="6286500" cy="575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40000" b="1" dirty="0">
                <a:solidFill>
                  <a:srgbClr val="E0772B">
                    <a:alpha val="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914400" y="3471863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UNIVERSITY OF SCIENCE · VNU-HCM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914400" y="3986213"/>
            <a:ext cx="1810512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50" kern="0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ơn đã lắng nghe!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5091113"/>
            <a:ext cx="181051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C3CDC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Questions &amp; Discussion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795963"/>
            <a:ext cx="1143000" cy="3810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8505825"/>
            <a:ext cx="164592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810625"/>
            <a:ext cx="79074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6F4E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MEMRES → CGAR: Agentic Python Dependency Resolution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9201150"/>
            <a:ext cx="79074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EB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Trần Chí Nguyên · Đào Sỹ Duy Minh · Huỳnh Trung Kiệt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8818" y="8782050"/>
            <a:ext cx="70485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625018" y="8858250"/>
            <a:ext cx="552450" cy="5524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444168" y="8782050"/>
            <a:ext cx="929432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16558468" y="8858250"/>
            <a:ext cx="700832" cy="5523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6202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Filter &amp; Constraint Solver (I/O)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647825"/>
            <a:ext cx="90630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Filter: </a:t>
            </a:r>
            <a:pPr algn="l" indent="0" marL="0">
              <a:buNone/>
            </a:pPr>
            <a:r>
              <a:rPr lang="en-US" sz="1800" b="1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CandidateGraphBuilder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009775"/>
            <a:ext cx="8239125" cy="7292429"/>
          </a:xfrm>
          <a:prstGeom prst="roundRect">
            <a:avLst>
              <a:gd name="adj" fmla="val 1567"/>
            </a:avLst>
          </a:prstGeom>
          <a:solidFill>
            <a:srgbClr val="16242A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535734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: packages = ["scipy","numpy"]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981474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python_version = "3.7"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427214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per package: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3872954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GET pypi.org/pypi/&lt;pkg&gt;/json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318695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filter requires_python (SpecifierSet)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4764435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wheel filter (linux/x86_64):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5210175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E0A8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-none-any.whl | manylinux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5655915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E0A8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| linux_x86_64 | -cp37- | -py3-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6101655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sort: wheel-first, newest-first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6547396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take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6993136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Output: {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438876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"scipy": [{v:"1.7.3", has_wheel:True},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47750" y="7884616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... up to 8],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8330357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"numpy": [...] 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6875" y="1647825"/>
            <a:ext cx="90630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Solver: </a:t>
            </a:r>
            <a:pPr algn="l" indent="0" marL="0">
              <a:buNone/>
            </a:pPr>
            <a:r>
              <a:rPr lang="en-US" sz="1800" b="1" dirty="0">
                <a:solidFill>
                  <a:srgbClr val="2E7CA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ConstraintSolver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86875" y="2009775"/>
            <a:ext cx="8239125" cy="7292429"/>
          </a:xfrm>
          <a:prstGeom prst="roundRect">
            <a:avLst>
              <a:gd name="adj" fmla="val 1567"/>
            </a:avLst>
          </a:prstGeom>
          <a:solidFill>
            <a:srgbClr val="16242A"/>
          </a:solidFill>
          <a:ln/>
        </p:spPr>
      </p:sp>
      <p:sp>
        <p:nvSpPr>
          <p:cNvPr id="22" name="Text 20"/>
          <p:cNvSpPr/>
          <p:nvPr/>
        </p:nvSpPr>
        <p:spPr>
          <a:xfrm>
            <a:off x="9572625" y="2758678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: graph (from Filter)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72625" y="3204418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python_version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72625" y="3650159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exclude_combo 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last failed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72625" y="4095899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viable = filter graph by store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72625" y="4541639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(HARD/SOFT/UpperBound pruning)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72625" y="4987379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greedy: pick newest viable / pkg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72625" y="5433120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if combo excluded or infeasible: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72625" y="5878860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_next_assignment() odometer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72625" y="6324600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skip known-bad combos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72625" y="6770340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max_attempts = 50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logic-only,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572625" y="7216080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    # no Docker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72625" y="7661821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Output: {"scipy":"1.7.3",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72625" y="8107561"/>
            <a:ext cx="7897654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0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"numpy":"1.21.6"}  or None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2000" y="9435554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0540" y="9559379"/>
            <a:ext cx="1726692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Two Ks: 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</a:t>
            </a:r>
            <a:pPr algn="ctr" indent="0" marL="0">
              <a:buNone/>
            </a:pPr>
            <a:r>
              <a:rPr lang="en-US" sz="1375" baseline="-400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solve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=50 logical attempts/solve call (μs) · K</a:t>
            </a:r>
            <a:pPr algn="ctr" indent="0" marL="0">
              <a:buNone/>
            </a:pPr>
            <a:r>
              <a:rPr lang="en-US" sz="1375" baseline="-400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≤10 Docker retries/snippet (180s/build, expensive).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18608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904875"/>
            <a:ext cx="186080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 Communication (Message I/O)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2403872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Planner → Executor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assignment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2746772"/>
            <a:ext cx="8286750" cy="1328738"/>
          </a:xfrm>
          <a:prstGeom prst="roundRect">
            <a:avLst>
              <a:gd name="adj" fmla="val 5735"/>
            </a:avLst>
          </a:prstGeom>
          <a:solidFill>
            <a:srgbClr val="16242A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2994422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{"scipy":"1.7.3","numpy":"1.21.6",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71550" y="3411141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"matplotlib":"3.5.3"}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315450" y="2403872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· Store → Planner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read, next round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15450" y="2708672"/>
            <a:ext cx="8286750" cy="1328738"/>
          </a:xfrm>
          <a:prstGeom prst="roundRect">
            <a:avLst>
              <a:gd name="adj" fmla="val 5735"/>
            </a:avLst>
          </a:prstGeom>
          <a:solidFill>
            <a:srgbClr val="16242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2956322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get_upper_bound("scipy","3.7") </a:t>
            </a:r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"1.3"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601200" y="3373041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get_infeasible_versions(...) → {…}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5800" y="4513659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Executor → Analyzer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result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4818459"/>
            <a:ext cx="8286750" cy="1745456"/>
          </a:xfrm>
          <a:prstGeom prst="roundRect">
            <a:avLst>
              <a:gd name="adj" fmla="val 4366"/>
            </a:avLst>
          </a:prstGeom>
          <a:solidFill>
            <a:srgbClr val="16242A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" y="5066109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{"success": False,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71550" y="5482828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"error_type": "ImportError",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1550" y="5899547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"error_log": "cannot import imread…"}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15450" y="4513659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· Analyzer → Critic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record_failure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315450" y="4818459"/>
            <a:ext cx="8286750" cy="1745456"/>
          </a:xfrm>
          <a:prstGeom prst="roundRect">
            <a:avLst>
              <a:gd name="adj" fmla="val 4366"/>
            </a:avLst>
          </a:prstGeom>
          <a:solidFill>
            <a:srgbClr val="16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5066109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{"assignment": {"scipy":"1.7.3",…},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601200" y="5482828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"python_version":"3.7",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601200" y="5899547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"error_type":"ImportError"}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5800" y="7002066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Analyzer → Store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85800" y="7306866"/>
            <a:ext cx="8286750" cy="1328738"/>
          </a:xfrm>
          <a:prstGeom prst="roundRect">
            <a:avLst>
              <a:gd name="adj" fmla="val 5735"/>
            </a:avLst>
          </a:prstGeom>
          <a:solidFill>
            <a:srgbClr val="16242A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" y="7554516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add_upper_bound</a:t>
            </a:r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("scipy","3.7","1.3")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71550" y="7971234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imread removed in scipy 1.3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315450" y="7002066"/>
            <a:ext cx="9115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 · Critic → Orchestrator </a:t>
            </a:r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strategic action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315450" y="7306866"/>
            <a:ext cx="8286750" cy="1328738"/>
          </a:xfrm>
          <a:prstGeom prst="roundRect">
            <a:avLst>
              <a:gd name="adj" fmla="val 5735"/>
            </a:avLst>
          </a:prstGeom>
          <a:solidFill>
            <a:srgbClr val="16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7554516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{"action":"switch_python","target":"2.7",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9601200" y="7971234"/>
            <a:ext cx="7946708" cy="454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"reason":"repeated SyntaxError"}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685800" y="9525000"/>
            <a:ext cx="169164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32054" y="9629775"/>
            <a:ext cx="174238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Agents không gọi nhau trực tiếp: coordinator (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CGARResolver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 điều phối; shared 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ConstraintStore </a:t>
            </a:r>
            <a:pPr algn="ctr" indent="0" marL="0">
              <a:buNone/>
            </a:pPr>
            <a:r>
              <a:rPr lang="en-US" sz="165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 tri thức chéo snippet.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500"/>
            <a:ext cx="18608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904875"/>
            <a:ext cx="186080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 Store: Data Structures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571625"/>
            <a:ext cx="91468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dữ liệu &amp; bộ phân loại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685800" y="1924050"/>
            <a:ext cx="8315325" cy="4124325"/>
          </a:xfrm>
          <a:prstGeom prst="roundRect">
            <a:avLst>
              <a:gd name="adj" fmla="val 2771"/>
            </a:avLst>
          </a:prstGeom>
          <a:solidFill>
            <a:srgbClr val="16242A"/>
          </a:solidFill>
          <a:ln/>
        </p:spPr>
      </p:sp>
      <p:sp>
        <p:nvSpPr>
          <p:cNvPr id="6" name="Text 4"/>
          <p:cNvSpPr/>
          <p:nvPr/>
        </p:nvSpPr>
        <p:spPr>
          <a:xfrm>
            <a:off x="933450" y="2152650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@dataclass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33450" y="2519363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E0A8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InfeasibleRecord</a:t>
            </a:r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3450" y="2886075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package, version, python_version: str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3450" y="3252788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error_type:      ConstraintType </a:t>
            </a:r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HARD|SOFT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3450" y="3619500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error_signature: str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3450" y="3986213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confidence:      float </a:t>
            </a:r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1.0 / 0.8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3450" y="4352925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count:           int   </a:t>
            </a:r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++ re-observe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3450" y="4719638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_records:       {(pkg,ver,py) → Record}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33450" y="5086350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_combo_records: {(FrozenSet,py) → sig}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33450" y="5453063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_upper_bounds:  {(pkg,py) → version}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6238875"/>
            <a:ext cx="8315325" cy="3024188"/>
          </a:xfrm>
          <a:prstGeom prst="roundRect">
            <a:avLst>
              <a:gd name="adj" fmla="val 3780"/>
            </a:avLst>
          </a:prstGeom>
          <a:solidFill>
            <a:srgbClr val="16242A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" y="6467475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regex classifiers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3450" y="6834188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_HARD = ["requires a different Python",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3450" y="7200900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"No matching distribution found"]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33450" y="7567612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_SOFT = ["ImportError","ModuleNotFoundError",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33450" y="7934325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"cannot import name"]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3450" y="8301038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_API_REMOVED_RE =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33450" y="8667750"/>
            <a:ext cx="80546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r"cannot import name '(\w+)' from '…'"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286875" y="1571625"/>
            <a:ext cx="91468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Flow: error log → stored record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286875" y="1924050"/>
            <a:ext cx="8315325" cy="5107781"/>
          </a:xfrm>
          <a:prstGeom prst="roundRect">
            <a:avLst>
              <a:gd name="adj" fmla="val 2238"/>
            </a:avLst>
          </a:prstGeom>
          <a:solidFill>
            <a:srgbClr val="16242A"/>
          </a:solidFill>
          <a:ln/>
        </p:spPr>
      </p:sp>
      <p:sp>
        <p:nvSpPr>
          <p:cNvPr id="26" name="Text 24"/>
          <p:cNvSpPr/>
          <p:nvPr/>
        </p:nvSpPr>
        <p:spPr>
          <a:xfrm>
            <a:off x="9534525" y="2152650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 = "ImportError: cannot import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34525" y="2540198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name 'imread' from 'scipy.misc'"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534525" y="2927747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1.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normalize_error_signature(log)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34525" y="3315295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strip line-N, 0xADDR, paths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34525" y="3702844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classify_error(log) → (SOFT, sig)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34525" y="4090392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_API_REMOVED_RE.search(log)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534525" y="4477941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→ ("imread","scipy.misc")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534525" y="4865489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add_upper_bound("scipy","3.7","1.3")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534525" y="5253038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7E90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4.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Analyzer LLM confirms UB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34525" y="5640586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_records[("scipy","1.7.3","3.7")]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534525" y="6028134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= Record(SOFT, count=1, 0.8)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34525" y="6415683"/>
            <a:ext cx="8054626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_upper_bounds[("scipy","3.7")]</a:t>
            </a:r>
            <a:pPr algn="l" indent="0" marL="0">
              <a:lnSpc>
                <a:spcPct val="185000"/>
              </a:lnSpc>
              <a:buNone/>
            </a:pPr>
            <a:r>
              <a:rPr lang="en-US" sz="1650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"1.3"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0487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 Call Mechanics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476375"/>
            <a:ext cx="18440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→ Ollama Gemma-2 9B (localhost:11434/api/generate)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762000" y="4124325"/>
            <a:ext cx="39719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524375"/>
            <a:ext cx="3610868" cy="3200400"/>
          </a:xfrm>
          <a:prstGeom prst="roundRect">
            <a:avLst>
              <a:gd name="adj" fmla="val 2976"/>
            </a:avLst>
          </a:prstGeom>
          <a:solidFill>
            <a:srgbClr val="16242A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81012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{"model":"gemma2",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047750" y="524827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"prompt":"&lt;agent&gt;",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47750" y="568642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"format":"json",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047750" y="612457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"options":{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047750" y="656272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"temperature":0.3,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047750" y="7000875"/>
            <a:ext cx="31305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"num_predict":128}}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4506218" y="4124325"/>
            <a:ext cx="39721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Response (Planner)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06218" y="4524375"/>
            <a:ext cx="3611017" cy="3200400"/>
          </a:xfrm>
          <a:prstGeom prst="roundRect">
            <a:avLst>
              <a:gd name="adj" fmla="val 2976"/>
            </a:avLst>
          </a:prstGeom>
          <a:solidFill>
            <a:srgbClr val="16242A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968" y="4810125"/>
            <a:ext cx="31307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{"assignment":{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4791968" y="5248275"/>
            <a:ext cx="31307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"scipy":"1.2.3",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4791968" y="5686425"/>
            <a:ext cx="31307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"numpy":"1.16.6"},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4791968" y="6124575"/>
            <a:ext cx="31307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"reason":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4791968" y="6562725"/>
            <a:ext cx="3130702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"imread needs scipy&lt;1.3"}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8536335" y="3343275"/>
            <a:ext cx="988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Budget &amp; trigger / agent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36335" y="4129088"/>
            <a:ext cx="2651075" cy="9525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631585" y="3819525"/>
            <a:ext cx="254010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1187410" y="4129088"/>
            <a:ext cx="1267718" cy="9525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244560" y="3819525"/>
            <a:ext cx="115341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TOK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2455128" y="4129088"/>
            <a:ext cx="5070872" cy="9525"/>
          </a:xfrm>
          <a:prstGeom prst="rect">
            <a:avLst/>
          </a:prstGeom>
          <a:solidFill>
            <a:srgbClr val="16242A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550378" y="3819525"/>
            <a:ext cx="503249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KHI NÀO CALL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8631585" y="4386263"/>
            <a:ext cx="25401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44560" y="4386263"/>
            <a:ext cx="11534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550378" y="4386263"/>
            <a:ext cx="50324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plan step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31585" y="5172075"/>
            <a:ext cx="25401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244560" y="5172075"/>
            <a:ext cx="1153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550378" y="5172075"/>
            <a:ext cx="50324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Docker fail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31585" y="5953125"/>
            <a:ext cx="25401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44560" y="5953125"/>
            <a:ext cx="1153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550378" y="5953125"/>
            <a:ext cx="50324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4C5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≥3 same-type fails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36335" y="6943725"/>
            <a:ext cx="9888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 limits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536335" y="7448550"/>
            <a:ext cx="1992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8773716" y="7381875"/>
            <a:ext cx="4627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 timeout/call </a:t>
            </a:r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60s </a:t>
            </a:r>
            <a:pPr algn="l" indent="0" marL="0">
              <a:buNone/>
            </a:pPr>
            <a:r>
              <a:rPr lang="en-US" sz="17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retry </a:t>
            </a:r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1×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8536335" y="7867650"/>
            <a:ext cx="1992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8773716" y="7800975"/>
            <a:ext cx="67838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build timeout </a:t>
            </a:r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180s </a:t>
            </a:r>
            <a:pPr algn="l" indent="0" marL="0">
              <a:buNone/>
            </a:pPr>
            <a:r>
              <a:rPr lang="en-US" sz="17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retries/snippet </a:t>
            </a:r>
            <a:pPr algn="l" indent="0" marL="0">
              <a:buNone/>
            </a:pPr>
            <a:r>
              <a:rPr lang="en-US" sz="1725" b="1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≤10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8536335" y="8286750"/>
            <a:ext cx="19928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07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8773716" y="8220075"/>
            <a:ext cx="49041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Empty / parse-fail → </a:t>
            </a:r>
            <a:pPr algn="l" indent="0" marL="0"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 fallback</a:t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0487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 Loop &amp; Anti-Hallucination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724025"/>
            <a:ext cx="9010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 lặp / snippet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" y="2114550"/>
            <a:ext cx="9010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reset </a:t>
            </a:r>
            <a:pPr algn="l" indent="0" marL="0">
              <a:buNone/>
            </a:pPr>
            <a:r>
              <a:rPr lang="en-US" sz="17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state, rồi </a:t>
            </a:r>
            <a:pPr algn="l" indent="0" marL="0">
              <a:buNone/>
            </a:pPr>
            <a:r>
              <a:rPr lang="en-US" sz="1725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loop ≤10 </a:t>
            </a:r>
            <a:pPr algn="l" indent="0" marL="0">
              <a:buNone/>
            </a:pPr>
            <a:r>
              <a:rPr lang="en-US" sz="1725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attempts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62000" y="2600325"/>
            <a:ext cx="23558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2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≤10 Docker attempts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723287" y="2614613"/>
            <a:ext cx="13532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 → break</a:t>
            </a:r>
            <a:endParaRPr lang="en-US" sz="14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914650"/>
            <a:ext cx="8191500" cy="1123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3228975"/>
            <a:ext cx="571500" cy="47625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E077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950" y="3248025"/>
            <a:ext cx="6096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↻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23900" y="375285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676400" y="3228975"/>
            <a:ext cx="476250" cy="476250"/>
          </a:xfrm>
          <a:prstGeom prst="ellipse">
            <a:avLst/>
          </a:prstGeom>
          <a:solidFill>
            <a:srgbClr val="B5483F">
              <a:alpha val="16000"/>
            </a:srgbClr>
          </a:solidFill>
          <a:ln w="19050">
            <a:solidFill>
              <a:srgbClr val="B548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57350" y="324802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2390775" y="3228975"/>
            <a:ext cx="476250" cy="476250"/>
          </a:xfrm>
          <a:prstGeom prst="ellipse">
            <a:avLst/>
          </a:prstGeom>
          <a:solidFill>
            <a:srgbClr val="B5483F">
              <a:alpha val="16000"/>
            </a:srgbClr>
          </a:solidFill>
          <a:ln w="19050">
            <a:solidFill>
              <a:srgbClr val="B548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1725" y="324802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105150" y="3228975"/>
            <a:ext cx="476250" cy="476250"/>
          </a:xfrm>
          <a:prstGeom prst="ellipse">
            <a:avLst/>
          </a:prstGeom>
          <a:solidFill>
            <a:srgbClr val="B5483F">
              <a:alpha val="16000"/>
            </a:srgbClr>
          </a:solidFill>
          <a:ln w="19050">
            <a:solidFill>
              <a:srgbClr val="B548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86100" y="324802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548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819525" y="3181350"/>
            <a:ext cx="571500" cy="571500"/>
          </a:xfrm>
          <a:prstGeom prst="ellipse">
            <a:avLst/>
          </a:prstGeom>
          <a:solidFill>
            <a:srgbClr val="2E7D5B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19050" dir="5400000">
              <a:srgbClr val="2E7D5B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00475" y="32004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✓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3733800" y="3771900"/>
            <a:ext cx="742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29150" y="3276600"/>
            <a:ext cx="381000" cy="381000"/>
          </a:xfrm>
          <a:prstGeom prst="ellipse">
            <a:avLst/>
          </a:prstGeom>
          <a:ln w="19050">
            <a:solidFill>
              <a:srgbClr val="16242A">
                <a:alpha val="18000"/>
              </a:srgbClr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5248275" y="3276600"/>
            <a:ext cx="381000" cy="381000"/>
          </a:xfrm>
          <a:prstGeom prst="ellipse">
            <a:avLst/>
          </a:prstGeom>
          <a:ln w="19050">
            <a:solidFill>
              <a:srgbClr val="16242A">
                <a:alpha val="18000"/>
              </a:srgbClr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5867400" y="3352800"/>
            <a:ext cx="2019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2A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…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6477000" y="3228975"/>
            <a:ext cx="476250" cy="476250"/>
          </a:xfrm>
          <a:prstGeom prst="ellipse">
            <a:avLst/>
          </a:prstGeom>
          <a:ln w="19050">
            <a:solidFill>
              <a:srgbClr val="16242A">
                <a:alpha val="28000"/>
              </a:srgbClr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457950" y="324802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42A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381750" y="3752850"/>
            <a:ext cx="666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000" y="4324350"/>
            <a:ext cx="9010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2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attempt: 4 bước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762000" y="4752975"/>
            <a:ext cx="1123950" cy="438150"/>
          </a:xfrm>
          <a:prstGeom prst="roundRect">
            <a:avLst>
              <a:gd name="adj" fmla="val 47826"/>
            </a:avLst>
          </a:prstGeom>
          <a:solidFill>
            <a:srgbClr val="2E7CA6"/>
          </a:solidFill>
          <a:ln/>
        </p:spPr>
      </p:sp>
      <p:sp>
        <p:nvSpPr>
          <p:cNvPr id="29" name="Text 26"/>
          <p:cNvSpPr/>
          <p:nvPr/>
        </p:nvSpPr>
        <p:spPr>
          <a:xfrm>
            <a:off x="895350" y="4829175"/>
            <a:ext cx="85725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Planner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2038350" y="4843463"/>
            <a:ext cx="25083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PyPI + Solver + LLM</a:t>
            </a:r>
            <a:endParaRPr lang="en-US" sz="1575" dirty="0"/>
          </a:p>
        </p:txBody>
      </p:sp>
      <p:sp>
        <p:nvSpPr>
          <p:cNvPr id="31" name="Text 28"/>
          <p:cNvSpPr/>
          <p:nvPr/>
        </p:nvSpPr>
        <p:spPr>
          <a:xfrm>
            <a:off x="1390650" y="5257800"/>
            <a:ext cx="8319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6242A">
                    <a:alpha val="3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↓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62000" y="5495925"/>
            <a:ext cx="1123950" cy="438150"/>
          </a:xfrm>
          <a:prstGeom prst="roundRect">
            <a:avLst>
              <a:gd name="adj" fmla="val 47826"/>
            </a:avLst>
          </a:prstGeom>
          <a:solidFill>
            <a:srgbClr val="E0772B"/>
          </a:solidFill>
          <a:ln/>
        </p:spPr>
      </p:sp>
      <p:sp>
        <p:nvSpPr>
          <p:cNvPr id="33" name="Text 30"/>
          <p:cNvSpPr/>
          <p:nvPr/>
        </p:nvSpPr>
        <p:spPr>
          <a:xfrm>
            <a:off x="895350" y="5572125"/>
            <a:ext cx="85725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2038350" y="5586413"/>
            <a:ext cx="17163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· 180s</a:t>
            </a:r>
            <a:endParaRPr lang="en-US" sz="1575" dirty="0"/>
          </a:p>
        </p:txBody>
      </p:sp>
      <p:sp>
        <p:nvSpPr>
          <p:cNvPr id="35" name="Text 32"/>
          <p:cNvSpPr/>
          <p:nvPr/>
        </p:nvSpPr>
        <p:spPr>
          <a:xfrm>
            <a:off x="1390650" y="6000750"/>
            <a:ext cx="8319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6242A">
                    <a:alpha val="3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↓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762000" y="6238875"/>
            <a:ext cx="1123950" cy="438150"/>
          </a:xfrm>
          <a:prstGeom prst="roundRect">
            <a:avLst>
              <a:gd name="adj" fmla="val 47826"/>
            </a:avLst>
          </a:prstGeom>
          <a:solidFill>
            <a:srgbClr val="B98A2E"/>
          </a:solidFill>
          <a:ln/>
        </p:spPr>
      </p:sp>
      <p:sp>
        <p:nvSpPr>
          <p:cNvPr id="37" name="Text 34"/>
          <p:cNvSpPr/>
          <p:nvPr/>
        </p:nvSpPr>
        <p:spPr>
          <a:xfrm>
            <a:off x="895350" y="6315075"/>
            <a:ext cx="85725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Analyzer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2038350" y="6329363"/>
            <a:ext cx="30365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ghi HARD / SOFT / UPPER</a:t>
            </a:r>
            <a:endParaRPr lang="en-US" sz="1575" dirty="0"/>
          </a:p>
        </p:txBody>
      </p:sp>
      <p:sp>
        <p:nvSpPr>
          <p:cNvPr id="39" name="Text 36"/>
          <p:cNvSpPr/>
          <p:nvPr/>
        </p:nvSpPr>
        <p:spPr>
          <a:xfrm>
            <a:off x="1390650" y="6743700"/>
            <a:ext cx="8319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16242A">
                    <a:alpha val="32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↓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762000" y="6981825"/>
            <a:ext cx="1123950" cy="438150"/>
          </a:xfrm>
          <a:prstGeom prst="roundRect">
            <a:avLst>
              <a:gd name="adj" fmla="val 47826"/>
            </a:avLst>
          </a:prstGeom>
          <a:solidFill>
            <a:srgbClr val="B5483F"/>
          </a:solidFill>
          <a:ln/>
        </p:spPr>
      </p:sp>
      <p:sp>
        <p:nvSpPr>
          <p:cNvPr id="41" name="Text 38"/>
          <p:cNvSpPr/>
          <p:nvPr/>
        </p:nvSpPr>
        <p:spPr>
          <a:xfrm>
            <a:off x="895350" y="7058025"/>
            <a:ext cx="85725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2038350" y="7072313"/>
            <a:ext cx="30253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C4C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fires nếu ≥3 same-fails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762000" y="7667625"/>
            <a:ext cx="8191500" cy="9525"/>
          </a:xfrm>
          <a:prstGeom prst="rect">
            <a:avLst/>
          </a:prstGeom>
          <a:solidFill>
            <a:srgbClr val="16242A">
              <a:alpha val="1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62000" y="7886700"/>
            <a:ext cx="843724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3E6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 persists </a:t>
            </a:r>
            <a:pPr algn="l" indent="0" marL="0">
              <a:buNone/>
            </a:pPr>
            <a:r>
              <a:rPr lang="en-US" sz="1800" dirty="0">
                <a:solidFill>
                  <a:srgbClr val="5C6B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 snippet kế tiếp trong cùng session, constraints tích lũy.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9334500" y="1724025"/>
            <a:ext cx="9010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Anti-hallucination check</a:t>
            </a:r>
            <a:endParaRPr lang="en-US" sz="2100" dirty="0"/>
          </a:p>
        </p:txBody>
      </p:sp>
      <p:sp>
        <p:nvSpPr>
          <p:cNvPr id="46" name="Shape 43"/>
          <p:cNvSpPr/>
          <p:nvPr/>
        </p:nvSpPr>
        <p:spPr>
          <a:xfrm>
            <a:off x="9334500" y="2286000"/>
            <a:ext cx="8191500" cy="10191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6242A">
                <a:alpha val="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9334500" y="2286000"/>
            <a:ext cx="47625" cy="1019175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48" name="Text 45"/>
          <p:cNvSpPr/>
          <p:nvPr/>
        </p:nvSpPr>
        <p:spPr>
          <a:xfrm>
            <a:off x="9686925" y="2628900"/>
            <a:ext cx="77800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Planner: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 ∈ candidate graph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else solver</a:t>
            </a:r>
            <a:endParaRPr lang="en-US" sz="1950" dirty="0"/>
          </a:p>
        </p:txBody>
      </p:sp>
      <p:sp>
        <p:nvSpPr>
          <p:cNvPr id="49" name="Shape 46"/>
          <p:cNvSpPr/>
          <p:nvPr/>
        </p:nvSpPr>
        <p:spPr>
          <a:xfrm>
            <a:off x="9334500" y="3590925"/>
            <a:ext cx="8191500" cy="10191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6242A">
                <a:alpha val="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334500" y="3590925"/>
            <a:ext cx="47625" cy="1019175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51" name="Text 48"/>
          <p:cNvSpPr/>
          <p:nvPr/>
        </p:nvSpPr>
        <p:spPr>
          <a:xfrm>
            <a:off x="9686925" y="3933825"/>
            <a:ext cx="77800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Analyzer: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∈ {HARD,SOFT,UPPER}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else discard</a:t>
            </a:r>
            <a:endParaRPr lang="en-US" sz="1950" dirty="0"/>
          </a:p>
        </p:txBody>
      </p:sp>
      <p:sp>
        <p:nvSpPr>
          <p:cNvPr id="52" name="Shape 49"/>
          <p:cNvSpPr/>
          <p:nvPr/>
        </p:nvSpPr>
        <p:spPr>
          <a:xfrm>
            <a:off x="9334500" y="4895850"/>
            <a:ext cx="8191500" cy="13525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6242A">
                <a:alpha val="5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9334500" y="4895850"/>
            <a:ext cx="47625" cy="1352550"/>
          </a:xfrm>
          <a:prstGeom prst="rect">
            <a:avLst/>
          </a:prstGeom>
          <a:solidFill>
            <a:srgbClr val="2E7CA6"/>
          </a:solidFill>
          <a:ln/>
        </p:spPr>
      </p:sp>
      <p:sp>
        <p:nvSpPr>
          <p:cNvPr id="54" name="Text 51"/>
          <p:cNvSpPr/>
          <p:nvPr/>
        </p:nvSpPr>
        <p:spPr>
          <a:xfrm>
            <a:off x="9686925" y="5238750"/>
            <a:ext cx="7780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Critic: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 ∈ {continue, switch_python, mark_unfixable}</a:t>
            </a:r>
            <a:endParaRPr lang="en-US" sz="1950" dirty="0"/>
          </a:p>
        </p:txBody>
      </p:sp>
      <p:sp>
        <p:nvSpPr>
          <p:cNvPr id="55" name="Shape 52"/>
          <p:cNvSpPr/>
          <p:nvPr/>
        </p:nvSpPr>
        <p:spPr>
          <a:xfrm>
            <a:off x="9334500" y="6534150"/>
            <a:ext cx="8191500" cy="1314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16242A">
                <a:alpha val="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9334500" y="6534150"/>
            <a:ext cx="47625" cy="1314450"/>
          </a:xfrm>
          <a:prstGeom prst="rect">
            <a:avLst/>
          </a:prstGeom>
          <a:solidFill>
            <a:srgbClr val="E0772B"/>
          </a:solidFill>
          <a:ln/>
        </p:spPr>
      </p:sp>
      <p:sp>
        <p:nvSpPr>
          <p:cNvPr id="57" name="Text 54"/>
          <p:cNvSpPr/>
          <p:nvPr/>
        </p:nvSpPr>
        <p:spPr>
          <a:xfrm>
            <a:off x="9686925" y="6877050"/>
            <a:ext cx="77800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 parse fail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regex salvage; </a:t>
            </a:r>
            <a:pPr algn="l" indent="0" marL="0">
              <a:buNone/>
            </a:pPr>
            <a:r>
              <a:rPr lang="en-US" sz="1950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empty/timeout </a:t>
            </a:r>
            <a:pPr algn="l" indent="0" marL="0">
              <a:buNone/>
            </a:pPr>
            <a:r>
              <a:rPr lang="en-US" sz="1950" dirty="0">
                <a:solidFill>
                  <a:srgbClr val="23373B"/>
                </a:solidFill>
                <a:highlight>
                  <a:srgbClr val="FFFFFF"/>
                </a:highlight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rule-only path</a:t>
            </a:r>
            <a:endParaRPr lang="en-US" sz="1950" dirty="0"/>
          </a:p>
        </p:txBody>
      </p:sp>
      <p:sp>
        <p:nvSpPr>
          <p:cNvPr id="58" name="Shape 55"/>
          <p:cNvSpPr/>
          <p:nvPr/>
        </p:nvSpPr>
        <p:spPr>
          <a:xfrm>
            <a:off x="762000" y="9505950"/>
            <a:ext cx="16764000" cy="9525"/>
          </a:xfrm>
          <a:prstGeom prst="rect">
            <a:avLst/>
          </a:prstGeom>
          <a:solidFill>
            <a:srgbClr val="16242A">
              <a:alpha val="12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510540" y="9629775"/>
            <a:ext cx="17266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Telemetry per agent: </a:t>
            </a:r>
            <a:pPr algn="ctr" indent="0" marL="0">
              <a:buNone/>
            </a:pPr>
            <a:r>
              <a:rPr lang="en-US" sz="1575" dirty="0">
                <a:solidFill>
                  <a:srgbClr val="5C6B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llm_consultations · llm_accepted (P) · llm_upper_bounds (A) · llm_overrides (C)</a:t>
            </a:r>
            <a:endParaRPr lang="en-US" sz="15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0487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Planner Agent Prompt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90675"/>
            <a:ext cx="16764000" cy="8277225"/>
          </a:xfrm>
          <a:prstGeom prst="roundRect">
            <a:avLst>
              <a:gd name="adj" fmla="val 1381"/>
            </a:avLst>
          </a:prstGeom>
          <a:solidFill>
            <a:srgbClr val="16242A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90838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are the </a:t>
            </a:r>
            <a:pPr algn="l" indent="0" marL="0">
              <a:lnSpc>
                <a:spcPct val="162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Planner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agent in a dependency-resolution system.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104900" y="3245644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Goal: choose one version per package most likely to install AND import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104900" y="3600450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successfully on Python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{python_version}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given constraints learned from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104900" y="3955256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previous failures this session.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04900" y="4310063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Candidate versions per package (newest first, wheel-available *):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104900" y="4664869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{candidate_block}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04900" y="5019675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Past failures (do NOT repeat): 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{constraint_block}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104900" y="5374481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Rule-based solver's current pick: 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{rule_pick}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104900" y="5729288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Rules: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04900" y="6084094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Pick ONE version per package from candidates above.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104900" y="6438900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Prefer wheel-available (*) versions to avoid source builds.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04900" y="6793706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Avoid versions in past failures.  If rule pick is safe, return it.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04900" y="7148513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ONLY valid JSON: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104900" y="7503319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{"assignment": {"pkg": "X.Y.Z", ...}, "reason": "&lt;short&gt;"}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104900" y="7858125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8BA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output: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104900" y="8212931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{"assignment": {"scipy": "1.2.3", "numpy": "1.16.6"}, "reason": "imread requires scipy&lt;1.3"}</a:t>
            </a:r>
            <a:endParaRPr lang="en-US" sz="17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0487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Analyzer Agent Prompt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90675"/>
            <a:ext cx="16764000" cy="8277225"/>
          </a:xfrm>
          <a:prstGeom prst="roundRect">
            <a:avLst>
              <a:gd name="adj" fmla="val 1381"/>
            </a:avLst>
          </a:prstGeom>
          <a:solidFill>
            <a:srgbClr val="16242A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068241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are the </a:t>
            </a:r>
            <a:pPr algn="l" indent="0" marL="0">
              <a:lnSpc>
                <a:spcPct val="162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Analyzer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agent. A Docker build just failed.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104900" y="3423047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Assignment tried: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{assignment_block}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Python: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{python_version}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104900" y="3777853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Regex classifier guess: type=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{regex_type}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sig=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{regex_sig}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104900" y="4132659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log (truncated):  </a:t>
            </a:r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{error_log}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04900" y="4487466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Rules: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104900" y="4842272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type in {HARD, SOFT, UPPER}.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04900" y="5197078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HARD  = deterministic incompat (Python mismatch, no matching dist).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104900" y="5551884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SOFT  = runtime error needing &gt;= 2 observations (ImportError, …).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104900" y="5906691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UPPER = API removed in current version -&gt; infer an upper bound.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04900" y="6261497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"cannot import name X from PKG" -&gt; type=UPPER, fill upper_bound.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104900" y="6616303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upper_bound = LAST known-good version before X removed (null if unsure).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04900" y="6971109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ONLY valid JSON: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04900" y="7325916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{"type":"HARD|SOFT|UPPER", "package":"&lt;pkg&gt;", "upper_bound":"X.Y.Z|null", "reason":"…"}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104900" y="7680722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8BA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output: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104900" y="8035528"/>
            <a:ext cx="16560546" cy="392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72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{"type": "UPPER", "package": "scipy", "upper_bound": "1.3", "reason": "imread removed in scipy 1.3"}</a:t>
            </a:r>
            <a:endParaRPr lang="en-US" sz="17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8440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E7C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BACKUP · B8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62000" y="904875"/>
            <a:ext cx="184404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7" kern="0" dirty="0">
                <a:solidFill>
                  <a:srgbClr val="23373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Critic Agent Prompt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62000" y="1590675"/>
            <a:ext cx="16764000" cy="8277225"/>
          </a:xfrm>
          <a:prstGeom prst="roundRect">
            <a:avLst>
              <a:gd name="adj" fmla="val 1381"/>
            </a:avLst>
          </a:prstGeom>
          <a:solidFill>
            <a:srgbClr val="16242A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178969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are the </a:t>
            </a:r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Critic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agent. The Planner has failed several attempts on the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104900" y="3479006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 snippet; propose a strategic pivot.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104900" y="3779044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Failure pattern: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{pattern}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total: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{total_failures}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104900" y="4079081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recent error types: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{last_error_types}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104900" y="4379119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versions tried: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E07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{python_versions_tried}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04900" y="4679156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Available actions (pick exactly one):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104900" y="4979194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"continue"       : keep retrying, no structural problem.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104900" y="5279231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"switch_python"  : likely Python 2/3 mismatch; try another Python.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04900" y="5579269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"mark_unfixable" : structurally infeasible (private pkg, Py2-only), stop.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1104900" y="5879306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Rules: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104900" y="6179344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Repeated SyntaxError under Py3+ and 2.7 not tried -&gt; switch_python 2.7.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04900" y="6479381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Repeated ImportError with &gt; 4 failures -&gt; mark_unfixable.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04900" y="6779419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&gt; 8 attempts, mixed errors -&gt; mark_unfixable.  Else -&gt; continue.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04900" y="7079456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D8D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ONLY valid JSON: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04900" y="7379494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{"action":"continue|switch_python|mark_unfixable", "target":"&lt;py|null&gt;", "reason":"…"}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04900" y="7679531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8BA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 output: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04900" y="7979569"/>
            <a:ext cx="1656054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BBD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{"action": "switch_python", "target": "2.7", "reason": "repeated SyntaxError -&gt; likely Python 2 code"}</a:t>
            </a:r>
            <a:endParaRPr lang="en-US" sz="15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se-aiware-winn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2026-06-24T03:11:51Z</dcterms:created>
  <dcterms:modified xsi:type="dcterms:W3CDTF">2026-06-24T03:11:51Z</dcterms:modified>
</cp:coreProperties>
</file>